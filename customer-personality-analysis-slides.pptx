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D2E46"/>
                </a:solidFill>
                <a:latin typeface="Calibri"/>
              </a:defRPr>
            </a:pPr>
            <a:r>
              <a:rPr sz="1200" b="0" i="0" u="none" strike="noStrike">
                <a:solidFill>
                  <a:srgbClr val="6D2E46"/>
                </a:solidFill>
                <a:latin typeface="Calibri"/>
              </a:rPr>
              <a:t>Total spending by product category</a:t>
            </a:r>
          </a:p>
        </c:rich>
      </c:tx>
      <c:layout/>
      <c:overlay val="0"/>
    </c:title>
    <c:autoTitleDeleted val="0"/>
    <c:plotArea>
      <c:layout/>
      <c:barChart>
        <c:barDir val="col"/>
        <c:grouping val="clustered"/>
        <c:varyColors val="0"/>
        <c:ser>
          <c:idx val="0"/>
          <c:order val="0"/>
          <c:tx>
            <c:strRef>
              <c:f>Sheet1!$B$1</c:f>
              <c:strCache>
                <c:ptCount val="1"/>
                <c:pt idx="0">
                  <c:v>Total spent</c:v>
                </c:pt>
              </c:strCache>
            </c:strRef>
          </c:tx>
          <c:spPr>
            <a:solidFill>
              <a:srgbClr val="6D2E46"/>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6D2E46"/>
              </a:solidFill>
              <a:effectLst/>
            </c:spPr>
          </c:dPt>
          <c:dPt>
            <c:idx val="1"/>
            <c:invertIfNegative val="0"/>
            <c:bubble3D val="0"/>
            <c:spPr>
              <a:solidFill>
                <a:srgbClr val="A26769"/>
              </a:solidFill>
              <a:effectLst/>
            </c:spPr>
          </c:dPt>
          <c:dPt>
            <c:idx val="2"/>
            <c:invertIfNegative val="0"/>
            <c:bubble3D val="0"/>
            <c:spPr>
              <a:solidFill>
                <a:srgbClr val="A26769"/>
              </a:solidFill>
              <a:effectLst/>
            </c:spPr>
          </c:dPt>
          <c:dPt>
            <c:idx val="3"/>
            <c:invertIfNegative val="0"/>
            <c:bubble3D val="0"/>
            <c:spPr>
              <a:solidFill>
                <a:srgbClr val="A26769"/>
              </a:solidFill>
              <a:effectLst/>
            </c:spPr>
          </c:dPt>
          <c:dPt>
            <c:idx val="4"/>
            <c:invertIfNegative val="0"/>
            <c:bubble3D val="0"/>
            <c:spPr>
              <a:solidFill>
                <a:srgbClr val="A26769"/>
              </a:solidFill>
              <a:effectLst/>
            </c:spPr>
          </c:dPt>
          <c:dPt>
            <c:idx val="5"/>
            <c:invertIfNegative val="0"/>
            <c:bubble3D val="0"/>
            <c:spPr>
              <a:solidFill>
                <a:srgbClr val="A26769"/>
              </a:solidFill>
              <a:effectLst/>
            </c:spPr>
          </c:dPt>
          <c:cat>
            <c:multiLvlStrRef>
              <c:f>Sheet1!$A$2:$A$7</c:f>
              <c:multiLvlStrCache>
                <c:ptCount val="6"/>
                <c:lvl>
                  <c:pt idx="0">
                    <c:v>Wine</c:v>
                  </c:pt>
                  <c:pt idx="1">
                    <c:v>Meat</c:v>
                  </c:pt>
                  <c:pt idx="2">
                    <c:v>Gold</c:v>
                  </c:pt>
                  <c:pt idx="3">
                    <c:v>Fish</c:v>
                  </c:pt>
                  <c:pt idx="4">
                    <c:v>Sweets</c:v>
                  </c:pt>
                  <c:pt idx="5">
                    <c:v>Fruit</c:v>
                  </c:pt>
                </c:lvl>
              </c:multiLvlStrCache>
            </c:multiLvlStrRef>
          </c:cat>
          <c:val>
            <c:numRef>
              <c:f>Sheet1!$B$2:$B$7</c:f>
              <c:numCache>
                <c:formatCode>General</c:formatCode>
                <c:ptCount val="6"/>
                <c:pt idx="0">
                  <c:v>675296</c:v>
                </c:pt>
                <c:pt idx="1">
                  <c:v>369470</c:v>
                </c:pt>
                <c:pt idx="2">
                  <c:v>97164</c:v>
                </c:pt>
                <c:pt idx="3">
                  <c:v>83279</c:v>
                </c:pt>
                <c:pt idx="4">
                  <c:v>59827</c:v>
                </c:pt>
                <c:pt idx="5">
                  <c:v>58241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5F6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CE2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5F6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project: take a grocery shop's customer database and find out who its customers actually are. Nobody labelled them, so this is unsupervised clustering. Two parts: build K-means from scratch and validate it, then apply three clustering algorithms to real customer data and describe the segments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own example: it makes no sense to advertise a new product to the whole database. Instead, analyse which segment is most likely to buy it and market only to them. The obstacle is that the dataset has 29 behavioural columns but no target column, no ground truth. That rules out supervised learning entirely and is why every algorithm in this project is unsupervised.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at least three algorithms. The knowledge base it provides covers exactly these three, so they are the intended set. The veille also covered how to choose the number of clusters: the elbow method on inertia, the silhouette score, and the Davies-Bouldin index. Full notes are in veille-notes.md and reproduced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is written with NumPy only, using vectorised operations rather than Python loops over points. Two deliberate design choices worth defending: centroids are initialised from real data points so that no cluster starts empty, and random_state fixes the seed so results are reproducible. The public API mirrors scikit-learn (fit, predict, fit_predict, inertia_), which is what makes the head-to-head comparison on the next slide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Iris is the control experiment: a small, well-known dataset where the right answer is understood. Our inertia is marginally higher than scikit-learn's only because scikit-learn runs ten restarts and keeps the best; ours runs once from one seed. The Adjusted Rand Index of 0.94 measures agreement between two labelings while ignoring which number was given to which cluster. The seed table is the honest part: with seed 2024 the algorithm converged to a clearly worse solution. That is K-means' known weakness, demonstrated on our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cleaning decision here is a judgement that can be questioned, so each one has a reason. The space padding was found by printing the column names with repr() after a KeyError — worth mentioning as real debugging. Outliers matter more for K-means than for most methods because centroids are means, so a single income of 600 000 drags a whole centroid towards it. The engineered features are what make the final segments describable in plain language instead of raw column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data before modelling is what tells you whether the clusters you later find make sense. Wine alone accounts for more spending than every other category combined except meat — 675 000 against 369 000 — so wine consumption is likely to drive any segmentation. The negative correlation between income and web visits is counter-intuitive and turned out to be a real segment signature: wealthy customers buy in store and by catalogue, while low-income customers browse the site often and buy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to be challenged on k = 4, so state the trade-off first rather than defending it later. Feature selection dropped Total_Spending's components because the total already contains them, and dropped the campaign-response columns because they describe past marketing outcomes rather than who the customer is. Standardisation is not cosmetic: without it, income would account for nearly all the distance and the clustering would effectively be a one-variable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algorithms were run on the same PCA-reduced data so the comparison is fair. DBSCAN was tuned properly, not carelessly: min_samples = 6 following the rule of twice the number of dimensions, and eps = 0.65 read from the elbow of the k-distance plot. It still produced one cluster of 2096 customers and three of 15, 9 and 6. This is the most interesting finding in the project, and the reason to present both metrics rather than one: Davies-Bouldin ranked the worst partition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question the project opened with. The four segments separate along two axes: purchasing power and family situation. Cluster 2 spends 1301 on average against Cluster 1's 124 — a factor of ten. Cluster 0 is the commercially interesting one: good income and solid spending, but 4.5 deal purchases on average, the highest of the four. They spend well when prompted. Cluster 3 is the opposite: highest web activity, almost no conversion. Limitations to acknowledge: k is a human choice, only internal metrics were used, and the data is a single snapshot with no seasonality.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F30"/>
        </a:solidFill>
      </p:bgPr>
    </p:bg>
    <p:spTree>
      <p:nvGrpSpPr>
        <p:cNvPr id="1" name=""/>
        <p:cNvGrpSpPr/>
        <p:nvPr/>
      </p:nvGrpSpPr>
      <p:grpSpPr>
        <a:xfrm>
          <a:off x="0" y="0"/>
          <a:ext cx="0" cy="0"/>
          <a:chOff x="0" y="0"/>
          <a:chExt cx="0" cy="0"/>
        </a:xfrm>
      </p:grpSpPr>
      <p:sp>
        <p:nvSpPr>
          <p:cNvPr id="2" name="Shape 0"/>
          <p:cNvSpPr/>
          <p:nvPr/>
        </p:nvSpPr>
        <p:spPr>
          <a:xfrm>
            <a:off x="7360920" y="-685800"/>
            <a:ext cx="2468880" cy="2468880"/>
          </a:xfrm>
          <a:prstGeom prst="ellipse">
            <a:avLst/>
          </a:prstGeom>
          <a:solidFill>
            <a:srgbClr val="6D2E46"/>
          </a:solidFill>
          <a:ln w="12700">
            <a:solidFill>
              <a:srgbClr val="6D2E46"/>
            </a:solidFill>
            <a:prstDash val="solid"/>
          </a:ln>
        </p:spPr>
      </p:sp>
      <p:sp>
        <p:nvSpPr>
          <p:cNvPr id="3" name="Shape 1"/>
          <p:cNvSpPr/>
          <p:nvPr/>
        </p:nvSpPr>
        <p:spPr>
          <a:xfrm>
            <a:off x="8138160" y="3794760"/>
            <a:ext cx="1737360" cy="1737360"/>
          </a:xfrm>
          <a:prstGeom prst="ellipse">
            <a:avLst/>
          </a:prstGeom>
          <a:solidFill>
            <a:srgbClr val="A26769"/>
          </a:solidFill>
          <a:ln w="12700">
            <a:solidFill>
              <a:srgbClr val="A26769"/>
            </a:solidFill>
            <a:prstDash val="solid"/>
          </a:ln>
        </p:spPr>
      </p:sp>
      <p:sp>
        <p:nvSpPr>
          <p:cNvPr id="4" name="Text 2"/>
          <p:cNvSpPr/>
          <p:nvPr/>
        </p:nvSpPr>
        <p:spPr>
          <a:xfrm>
            <a:off x="640080" y="1234440"/>
            <a:ext cx="6583680" cy="137160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Customer Personality Analysis</a:t>
            </a:r>
            <a:endParaRPr lang="en-US" sz="4000" dirty="0"/>
          </a:p>
        </p:txBody>
      </p:sp>
      <p:sp>
        <p:nvSpPr>
          <p:cNvPr id="5" name="Text 3"/>
          <p:cNvSpPr/>
          <p:nvPr/>
        </p:nvSpPr>
        <p:spPr>
          <a:xfrm>
            <a:off x="658368" y="2606040"/>
            <a:ext cx="6400800" cy="685800"/>
          </a:xfrm>
          <a:prstGeom prst="rect">
            <a:avLst/>
          </a:prstGeom>
          <a:noFill/>
          <a:ln/>
        </p:spPr>
        <p:txBody>
          <a:bodyPr wrap="square" lIns="0" tIns="0" rIns="0" bIns="0" rtlCol="0" anchor="ctr"/>
          <a:lstStyle/>
          <a:p>
            <a:pPr algn="l" indent="0" marL="0">
              <a:buNone/>
            </a:pPr>
            <a:r>
              <a:rPr lang="en-US" sz="1500" dirty="0">
                <a:solidFill>
                  <a:srgbClr val="ECE2D0"/>
                </a:solidFill>
                <a:latin typeface="Calibri" pitchFamily="34" charset="0"/>
                <a:ea typeface="Calibri" pitchFamily="34" charset="-122"/>
                <a:cs typeface="Calibri" pitchFamily="34" charset="-120"/>
              </a:rPr>
              <a:t>Who buys what? Finding customer segments with unsupervised clustering</a:t>
            </a:r>
            <a:endParaRPr lang="en-US" sz="1500" dirty="0"/>
          </a:p>
        </p:txBody>
      </p:sp>
      <p:sp>
        <p:nvSpPr>
          <p:cNvPr id="6" name="Text 4"/>
          <p:cNvSpPr/>
          <p:nvPr/>
        </p:nvSpPr>
        <p:spPr>
          <a:xfrm>
            <a:off x="658368" y="4114800"/>
            <a:ext cx="5943600" cy="365760"/>
          </a:xfrm>
          <a:prstGeom prst="rect">
            <a:avLst/>
          </a:prstGeom>
          <a:noFill/>
          <a:ln/>
        </p:spPr>
        <p:txBody>
          <a:bodyPr wrap="square" lIns="0" tIns="0" rIns="0" bIns="0" rtlCol="0" anchor="ctr"/>
          <a:lstStyle/>
          <a:p>
            <a:pPr algn="l" indent="0" marL="0">
              <a:buNone/>
            </a:pPr>
            <a:r>
              <a:rPr lang="en-US" sz="1200" dirty="0">
                <a:solidFill>
                  <a:srgbClr val="A26769"/>
                </a:solidFill>
                <a:latin typeface="Calibri" pitchFamily="34" charset="0"/>
                <a:ea typeface="Calibri" pitchFamily="34" charset="-122"/>
                <a:cs typeface="Calibri" pitchFamily="34" charset="-120"/>
              </a:rPr>
              <a:t>Rooney Nofal  ·  La Plateforme, Marseille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A shop that does not know its own customers</a:t>
            </a:r>
            <a:endParaRPr lang="en-US" sz="3000" dirty="0"/>
          </a:p>
        </p:txBody>
      </p:sp>
      <p:sp>
        <p:nvSpPr>
          <p:cNvPr id="4" name="Text 2"/>
          <p:cNvSpPr/>
          <p:nvPr/>
        </p:nvSpPr>
        <p:spPr>
          <a:xfrm>
            <a:off x="457200" y="1463040"/>
            <a:ext cx="4572000" cy="2377440"/>
          </a:xfrm>
          <a:prstGeom prst="rect">
            <a:avLst/>
          </a:prstGeom>
          <a:noFill/>
          <a:ln/>
        </p:spPr>
        <p:txBody>
          <a:bodyPr wrap="square" lIns="0" tIns="0" rIns="0" bIns="0" rtlCol="0" anchor="t"/>
          <a:lstStyle/>
          <a:p>
            <a:pPr indent="0" marL="0">
              <a:lnSpc>
                <a:spcPts val="2000"/>
              </a:lnSpc>
              <a:spcAft>
                <a:spcPts val="1000"/>
              </a:spcAft>
              <a:buNone/>
            </a:pPr>
            <a:r>
              <a:rPr lang="en-US" sz="1400" dirty="0">
                <a:solidFill>
                  <a:srgbClr val="2B2124"/>
                </a:solidFill>
                <a:latin typeface="Calibri" pitchFamily="34" charset="0"/>
                <a:ea typeface="Calibri" pitchFamily="34" charset="-122"/>
                <a:cs typeface="Calibri" pitchFamily="34" charset="-120"/>
              </a:rPr>
              <a:t>A business does not sell to "customers" in general. It sells to distinct groups who differ in income, family situation and taste.</a:t>
            </a:r>
            <a:endParaRPr lang="en-US" sz="1400" dirty="0"/>
          </a:p>
          <a:p>
            <a:pPr indent="0" marL="0">
              <a:lnSpc>
                <a:spcPts val="2000"/>
              </a:lnSpc>
              <a:spcAft>
                <a:spcPts val="1000"/>
              </a:spcAft>
              <a:buNone/>
            </a:pPr>
            <a:r>
              <a:rPr lang="en-US" sz="1400" dirty="0">
                <a:solidFill>
                  <a:srgbClr val="2B2124"/>
                </a:solidFill>
                <a:latin typeface="Calibri" pitchFamily="34" charset="0"/>
                <a:ea typeface="Calibri" pitchFamily="34" charset="-122"/>
                <a:cs typeface="Calibri" pitchFamily="34" charset="-120"/>
              </a:rPr>
              <a:t>Marketing one product to everyone is expensive and inefficient. The useful move is to find the segment most likely to buy, and target only that segment.</a:t>
            </a:r>
            <a:endParaRPr lang="en-US" sz="1400" dirty="0"/>
          </a:p>
          <a:p>
            <a:pPr indent="0" marL="0">
              <a:lnSpc>
                <a:spcPts val="2000"/>
              </a:lnSpc>
              <a:buNone/>
            </a:pPr>
            <a:r>
              <a:rPr lang="en-US" sz="1400" dirty="0">
                <a:solidFill>
                  <a:srgbClr val="2B2124"/>
                </a:solidFill>
                <a:latin typeface="Calibri" pitchFamily="34" charset="0"/>
                <a:ea typeface="Calibri" pitchFamily="34" charset="-122"/>
                <a:cs typeface="Calibri" pitchFamily="34" charset="-120"/>
              </a:rPr>
              <a:t>But nobody has labelled the customers. There is no column saying "bargain hunter". The groups have to be discovered from the data itself.</a:t>
            </a:r>
            <a:endParaRPr lang="en-US" sz="1400" dirty="0"/>
          </a:p>
        </p:txBody>
      </p:sp>
      <p:sp>
        <p:nvSpPr>
          <p:cNvPr id="5" name="Text 3"/>
          <p:cNvSpPr/>
          <p:nvPr/>
        </p:nvSpPr>
        <p:spPr>
          <a:xfrm>
            <a:off x="457200" y="3977640"/>
            <a:ext cx="4572000" cy="457200"/>
          </a:xfrm>
          <a:prstGeom prst="rect">
            <a:avLst/>
          </a:prstGeom>
          <a:noFill/>
          <a:ln/>
        </p:spPr>
        <p:txBody>
          <a:bodyPr wrap="square" lIns="0" tIns="0" rIns="0" bIns="0" rtlCol="0" anchor="ctr"/>
          <a:lstStyle/>
          <a:p>
            <a:pPr indent="0" marL="0">
              <a:buNone/>
            </a:pPr>
            <a:r>
              <a:rPr lang="en-US" sz="1400" b="1" i="1" dirty="0">
                <a:solidFill>
                  <a:srgbClr val="6D2E46"/>
                </a:solidFill>
                <a:latin typeface="Calibri" pitchFamily="34" charset="0"/>
                <a:ea typeface="Calibri" pitchFamily="34" charset="-122"/>
                <a:cs typeface="Calibri" pitchFamily="34" charset="-120"/>
              </a:rPr>
              <a:t>That is unsupervised learning — specifically, clustering.</a:t>
            </a:r>
            <a:endParaRPr lang="en-US" sz="1400" dirty="0"/>
          </a:p>
        </p:txBody>
      </p:sp>
      <p:sp>
        <p:nvSpPr>
          <p:cNvPr id="6" name="Shape 4"/>
          <p:cNvSpPr/>
          <p:nvPr/>
        </p:nvSpPr>
        <p:spPr>
          <a:xfrm>
            <a:off x="5486400" y="1463040"/>
            <a:ext cx="3200400" cy="2971800"/>
          </a:xfrm>
          <a:prstGeom prst="roundRect">
            <a:avLst>
              <a:gd name="adj" fmla="val 2462"/>
            </a:avLst>
          </a:prstGeom>
          <a:solidFill>
            <a:srgbClr val="F7F1E8"/>
          </a:solidFill>
          <a:ln w="12700">
            <a:solidFill>
              <a:srgbClr val="ECE2D0"/>
            </a:solidFill>
            <a:prstDash val="solid"/>
          </a:ln>
          <a:effectLst>
            <a:outerShdw sx="100000" sy="100000" kx="0" ky="0" algn="bl" rotWithShape="0" blurRad="127000" dist="25400" dir="5400000">
              <a:srgbClr val="999999">
                <a:alpha val="25000"/>
              </a:srgbClr>
            </a:outerShdw>
          </a:effectLst>
        </p:spPr>
      </p:sp>
      <p:sp>
        <p:nvSpPr>
          <p:cNvPr id="7" name="Text 5"/>
          <p:cNvSpPr/>
          <p:nvPr/>
        </p:nvSpPr>
        <p:spPr>
          <a:xfrm>
            <a:off x="5669280" y="1691640"/>
            <a:ext cx="2834640" cy="685800"/>
          </a:xfrm>
          <a:prstGeom prst="rect">
            <a:avLst/>
          </a:prstGeom>
          <a:noFill/>
          <a:ln/>
        </p:spPr>
        <p:txBody>
          <a:bodyPr wrap="square" lIns="0" tIns="0" rIns="0" bIns="0" rtlCol="0" anchor="ctr"/>
          <a:lstStyle/>
          <a:p>
            <a:pPr indent="0" marL="0">
              <a:buNone/>
            </a:pPr>
            <a:r>
              <a:rPr lang="en-US" sz="4400" b="1" dirty="0">
                <a:solidFill>
                  <a:srgbClr val="6D2E46"/>
                </a:solidFill>
                <a:latin typeface="Cambria" pitchFamily="34" charset="0"/>
                <a:ea typeface="Cambria" pitchFamily="34" charset="-122"/>
                <a:cs typeface="Cambria" pitchFamily="34" charset="-120"/>
              </a:rPr>
              <a:t>2 240</a:t>
            </a:r>
            <a:endParaRPr lang="en-US" sz="4400" dirty="0"/>
          </a:p>
        </p:txBody>
      </p:sp>
      <p:sp>
        <p:nvSpPr>
          <p:cNvPr id="8" name="Text 6"/>
          <p:cNvSpPr/>
          <p:nvPr/>
        </p:nvSpPr>
        <p:spPr>
          <a:xfrm>
            <a:off x="5669280" y="2331720"/>
            <a:ext cx="2834640" cy="274320"/>
          </a:xfrm>
          <a:prstGeom prst="rect">
            <a:avLst/>
          </a:prstGeom>
          <a:noFill/>
          <a:ln/>
        </p:spPr>
        <p:txBody>
          <a:bodyPr wrap="square" lIns="0" tIns="0" rIns="0" bIns="0" rtlCol="0" anchor="ctr"/>
          <a:lstStyle/>
          <a:p>
            <a:pPr indent="0" marL="0">
              <a:buNone/>
            </a:pPr>
            <a:r>
              <a:rPr lang="en-US" sz="1200" dirty="0">
                <a:solidFill>
                  <a:srgbClr val="6E5F62"/>
                </a:solidFill>
                <a:latin typeface="Calibri" pitchFamily="34" charset="0"/>
                <a:ea typeface="Calibri" pitchFamily="34" charset="-122"/>
                <a:cs typeface="Calibri" pitchFamily="34" charset="-120"/>
              </a:rPr>
              <a:t>customers in the raw file</a:t>
            </a:r>
            <a:endParaRPr lang="en-US" sz="1200" dirty="0"/>
          </a:p>
        </p:txBody>
      </p:sp>
      <p:sp>
        <p:nvSpPr>
          <p:cNvPr id="9" name="Text 7"/>
          <p:cNvSpPr/>
          <p:nvPr/>
        </p:nvSpPr>
        <p:spPr>
          <a:xfrm>
            <a:off x="5669280" y="2743200"/>
            <a:ext cx="2834640" cy="548640"/>
          </a:xfrm>
          <a:prstGeom prst="rect">
            <a:avLst/>
          </a:prstGeom>
          <a:noFill/>
          <a:ln/>
        </p:spPr>
        <p:txBody>
          <a:bodyPr wrap="square" lIns="0" tIns="0" rIns="0" bIns="0" rtlCol="0" anchor="ctr"/>
          <a:lstStyle/>
          <a:p>
            <a:pPr indent="0" marL="0">
              <a:buNone/>
            </a:pPr>
            <a:r>
              <a:rPr lang="en-US" sz="3600" b="1" dirty="0">
                <a:solidFill>
                  <a:srgbClr val="A26769"/>
                </a:solidFill>
                <a:latin typeface="Cambria" pitchFamily="34" charset="0"/>
                <a:ea typeface="Cambria" pitchFamily="34" charset="-122"/>
                <a:cs typeface="Cambria" pitchFamily="34" charset="-120"/>
              </a:rPr>
              <a:t>29</a:t>
            </a:r>
            <a:endParaRPr lang="en-US" sz="3600" dirty="0"/>
          </a:p>
        </p:txBody>
      </p:sp>
      <p:sp>
        <p:nvSpPr>
          <p:cNvPr id="10" name="Text 8"/>
          <p:cNvSpPr/>
          <p:nvPr/>
        </p:nvSpPr>
        <p:spPr>
          <a:xfrm>
            <a:off x="5669280" y="3291840"/>
            <a:ext cx="2834640" cy="457200"/>
          </a:xfrm>
          <a:prstGeom prst="rect">
            <a:avLst/>
          </a:prstGeom>
          <a:noFill/>
          <a:ln/>
        </p:spPr>
        <p:txBody>
          <a:bodyPr wrap="square" lIns="0" tIns="0" rIns="0" bIns="0" rtlCol="0" anchor="ctr"/>
          <a:lstStyle/>
          <a:p>
            <a:pPr indent="0" marL="0">
              <a:buNone/>
            </a:pPr>
            <a:r>
              <a:rPr lang="en-US" sz="1200" dirty="0">
                <a:solidFill>
                  <a:srgbClr val="6E5F62"/>
                </a:solidFill>
                <a:latin typeface="Calibri" pitchFamily="34" charset="0"/>
                <a:ea typeface="Calibri" pitchFamily="34" charset="-122"/>
                <a:cs typeface="Calibri" pitchFamily="34" charset="-120"/>
              </a:rPr>
              <a:t>columns of behaviour: spending, channels, campaigns</a:t>
            </a:r>
            <a:endParaRPr lang="en-US" sz="1200" dirty="0"/>
          </a:p>
        </p:txBody>
      </p:sp>
      <p:sp>
        <p:nvSpPr>
          <p:cNvPr id="11" name="Text 9"/>
          <p:cNvSpPr/>
          <p:nvPr/>
        </p:nvSpPr>
        <p:spPr>
          <a:xfrm>
            <a:off x="5669280" y="3840480"/>
            <a:ext cx="2834640" cy="365760"/>
          </a:xfrm>
          <a:prstGeom prst="rect">
            <a:avLst/>
          </a:prstGeom>
          <a:noFill/>
          <a:ln/>
        </p:spPr>
        <p:txBody>
          <a:bodyPr wrap="square" lIns="0" tIns="0" rIns="0" bIns="0" rtlCol="0" anchor="ctr"/>
          <a:lstStyle/>
          <a:p>
            <a:pPr indent="0" marL="0">
              <a:buNone/>
            </a:pPr>
            <a:r>
              <a:rPr lang="en-US" sz="1500" b="1" dirty="0">
                <a:solidFill>
                  <a:srgbClr val="C08A2E"/>
                </a:solidFill>
                <a:latin typeface="Calibri" pitchFamily="34" charset="0"/>
                <a:ea typeface="Calibri" pitchFamily="34" charset="-122"/>
                <a:cs typeface="Calibri" pitchFamily="34" charset="-120"/>
              </a:rPr>
              <a:t>0 labels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VEILLE</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Three ways to find groups without labels</a:t>
            </a:r>
            <a:endParaRPr lang="en-US" sz="3000" dirty="0"/>
          </a:p>
        </p:txBody>
      </p:sp>
      <p:sp>
        <p:nvSpPr>
          <p:cNvPr id="4" name="Shape 2"/>
          <p:cNvSpPr/>
          <p:nvPr/>
        </p:nvSpPr>
        <p:spPr>
          <a:xfrm>
            <a:off x="457200" y="1371600"/>
            <a:ext cx="2529230" cy="3108960"/>
          </a:xfrm>
          <a:prstGeom prst="roundRect">
            <a:avLst>
              <a:gd name="adj" fmla="val 2169"/>
            </a:avLst>
          </a:prstGeom>
          <a:solidFill>
            <a:srgbClr val="F7F1E8"/>
          </a:solidFill>
          <a:ln w="12700">
            <a:solidFill>
              <a:srgbClr val="ECE2D0"/>
            </a:solidFill>
            <a:prstDash val="solid"/>
          </a:ln>
          <a:effectLst>
            <a:outerShdw sx="100000" sy="100000" kx="0" ky="0" algn="bl" rotWithShape="0" blurRad="101600" dist="25400" dir="5400000">
              <a:srgbClr val="AAAAAA">
                <a:alpha val="20000"/>
              </a:srgbClr>
            </a:outerShdw>
          </a:effectLst>
        </p:spPr>
      </p:sp>
      <p:sp>
        <p:nvSpPr>
          <p:cNvPr id="5" name="Shape 3"/>
          <p:cNvSpPr/>
          <p:nvPr/>
        </p:nvSpPr>
        <p:spPr>
          <a:xfrm>
            <a:off x="658368" y="1572768"/>
            <a:ext cx="384048" cy="384048"/>
          </a:xfrm>
          <a:prstGeom prst="ellipse">
            <a:avLst/>
          </a:prstGeom>
          <a:solidFill>
            <a:srgbClr val="6D2E46"/>
          </a:solidFill>
          <a:ln w="12700">
            <a:solidFill>
              <a:srgbClr val="6D2E46"/>
            </a:solidFill>
            <a:prstDash val="solid"/>
          </a:ln>
        </p:spPr>
      </p:sp>
      <p:sp>
        <p:nvSpPr>
          <p:cNvPr id="6" name="Text 4"/>
          <p:cNvSpPr/>
          <p:nvPr/>
        </p:nvSpPr>
        <p:spPr>
          <a:xfrm>
            <a:off x="658368"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1572768"/>
            <a:ext cx="1660550" cy="384048"/>
          </a:xfrm>
          <a:prstGeom prst="rect">
            <a:avLst/>
          </a:prstGeom>
          <a:noFill/>
          <a:ln/>
        </p:spPr>
        <p:txBody>
          <a:bodyPr wrap="square" lIns="0" tIns="0" rIns="0" bIns="0"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K-means</a:t>
            </a:r>
            <a:endParaRPr lang="en-US" sz="1500" dirty="0"/>
          </a:p>
        </p:txBody>
      </p:sp>
      <p:sp>
        <p:nvSpPr>
          <p:cNvPr id="8" name="Text 6"/>
          <p:cNvSpPr/>
          <p:nvPr/>
        </p:nvSpPr>
        <p:spPr>
          <a:xfrm>
            <a:off x="658368" y="2121408"/>
            <a:ext cx="2126894" cy="1371600"/>
          </a:xfrm>
          <a:prstGeom prst="rect">
            <a:avLst/>
          </a:prstGeom>
          <a:noFill/>
          <a:ln/>
        </p:spPr>
        <p:txBody>
          <a:bodyPr wrap="square" lIns="0" tIns="0" rIns="0" bIns="0" rtlCol="0" anchor="t"/>
          <a:lstStyle/>
          <a:p>
            <a:pPr indent="0" marL="0">
              <a:lnSpc>
                <a:spcPts val="1500"/>
              </a:lnSpc>
              <a:buNone/>
            </a:pPr>
            <a:r>
              <a:rPr lang="en-US" sz="1150" dirty="0">
                <a:solidFill>
                  <a:srgbClr val="2B2124"/>
                </a:solidFill>
                <a:latin typeface="Calibri" pitchFamily="34" charset="0"/>
                <a:ea typeface="Calibri" pitchFamily="34" charset="-122"/>
                <a:cs typeface="Calibri" pitchFamily="34" charset="-120"/>
              </a:rPr>
              <a:t>Place K centroids, assign each point to the nearest one, move each centroid to the mean of its points, repeat until they stop moving.</a:t>
            </a:r>
            <a:endParaRPr lang="en-US" sz="1150" dirty="0"/>
          </a:p>
        </p:txBody>
      </p:sp>
      <p:sp>
        <p:nvSpPr>
          <p:cNvPr id="9" name="Text 7"/>
          <p:cNvSpPr/>
          <p:nvPr/>
        </p:nvSpPr>
        <p:spPr>
          <a:xfrm>
            <a:off x="658368" y="3611880"/>
            <a:ext cx="2126894" cy="731520"/>
          </a:xfrm>
          <a:prstGeom prst="rect">
            <a:avLst/>
          </a:prstGeom>
          <a:noFill/>
          <a:ln/>
        </p:spPr>
        <p:txBody>
          <a:bodyPr wrap="square" lIns="0" tIns="0" rIns="0" bIns="0" rtlCol="0" anchor="t"/>
          <a:lstStyle/>
          <a:p>
            <a:pPr indent="0" marL="0">
              <a:lnSpc>
                <a:spcPts val="1400"/>
              </a:lnSpc>
              <a:buNone/>
            </a:pPr>
            <a:r>
              <a:rPr lang="en-US" sz="1050" i="1" dirty="0">
                <a:solidFill>
                  <a:srgbClr val="6E5F62"/>
                </a:solidFill>
                <a:latin typeface="Calibri" pitchFamily="34" charset="0"/>
                <a:ea typeface="Calibri" pitchFamily="34" charset="-122"/>
                <a:cs typeface="Calibri" pitchFamily="34" charset="-120"/>
              </a:rPr>
              <a:t>Fast and interpretable, but K must be chosen upfront and the random start matters.</a:t>
            </a:r>
            <a:endParaRPr lang="en-US" sz="1050" dirty="0"/>
          </a:p>
        </p:txBody>
      </p:sp>
      <p:sp>
        <p:nvSpPr>
          <p:cNvPr id="10" name="Shape 8"/>
          <p:cNvSpPr/>
          <p:nvPr/>
        </p:nvSpPr>
        <p:spPr>
          <a:xfrm>
            <a:off x="3306470" y="1371600"/>
            <a:ext cx="2529230" cy="3108960"/>
          </a:xfrm>
          <a:prstGeom prst="roundRect">
            <a:avLst>
              <a:gd name="adj" fmla="val 2169"/>
            </a:avLst>
          </a:prstGeom>
          <a:solidFill>
            <a:srgbClr val="FFFFFF"/>
          </a:solidFill>
          <a:ln w="12700">
            <a:solidFill>
              <a:srgbClr val="ECE2D0"/>
            </a:solidFill>
            <a:prstDash val="solid"/>
          </a:ln>
          <a:effectLst>
            <a:outerShdw sx="100000" sy="100000" kx="0" ky="0" algn="bl" rotWithShape="0" blurRad="101600" dist="25400" dir="5400000">
              <a:srgbClr val="AAAAAA">
                <a:alpha val="20000"/>
              </a:srgbClr>
            </a:outerShdw>
          </a:effectLst>
        </p:spPr>
      </p:sp>
      <p:sp>
        <p:nvSpPr>
          <p:cNvPr id="11" name="Shape 9"/>
          <p:cNvSpPr/>
          <p:nvPr/>
        </p:nvSpPr>
        <p:spPr>
          <a:xfrm>
            <a:off x="3507638" y="1572768"/>
            <a:ext cx="384048" cy="384048"/>
          </a:xfrm>
          <a:prstGeom prst="ellipse">
            <a:avLst/>
          </a:prstGeom>
          <a:solidFill>
            <a:srgbClr val="A26769"/>
          </a:solidFill>
          <a:ln w="12700">
            <a:solidFill>
              <a:srgbClr val="A26769"/>
            </a:solidFill>
            <a:prstDash val="solid"/>
          </a:ln>
        </p:spPr>
      </p:sp>
      <p:sp>
        <p:nvSpPr>
          <p:cNvPr id="12" name="Text 10"/>
          <p:cNvSpPr/>
          <p:nvPr/>
        </p:nvSpPr>
        <p:spPr>
          <a:xfrm>
            <a:off x="3507638"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992270" y="1572768"/>
            <a:ext cx="1660550" cy="384048"/>
          </a:xfrm>
          <a:prstGeom prst="rect">
            <a:avLst/>
          </a:prstGeom>
          <a:noFill/>
          <a:ln/>
        </p:spPr>
        <p:txBody>
          <a:bodyPr wrap="square" lIns="0" tIns="0" rIns="0" bIns="0"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CAH (hierarchical)</a:t>
            </a:r>
            <a:endParaRPr lang="en-US" sz="1500" dirty="0"/>
          </a:p>
        </p:txBody>
      </p:sp>
      <p:sp>
        <p:nvSpPr>
          <p:cNvPr id="14" name="Text 12"/>
          <p:cNvSpPr/>
          <p:nvPr/>
        </p:nvSpPr>
        <p:spPr>
          <a:xfrm>
            <a:off x="3507638" y="2121408"/>
            <a:ext cx="2126894" cy="1371600"/>
          </a:xfrm>
          <a:prstGeom prst="rect">
            <a:avLst/>
          </a:prstGeom>
          <a:noFill/>
          <a:ln/>
        </p:spPr>
        <p:txBody>
          <a:bodyPr wrap="square" lIns="0" tIns="0" rIns="0" bIns="0" rtlCol="0" anchor="t"/>
          <a:lstStyle/>
          <a:p>
            <a:pPr indent="0" marL="0">
              <a:lnSpc>
                <a:spcPts val="1500"/>
              </a:lnSpc>
              <a:buNone/>
            </a:pPr>
            <a:r>
              <a:rPr lang="en-US" sz="1150" dirty="0">
                <a:solidFill>
                  <a:srgbClr val="2B2124"/>
                </a:solidFill>
                <a:latin typeface="Calibri" pitchFamily="34" charset="0"/>
                <a:ea typeface="Calibri" pitchFamily="34" charset="-122"/>
                <a:cs typeface="Calibri" pitchFamily="34" charset="-120"/>
              </a:rPr>
              <a:t>Start with every point as its own cluster, repeatedly merge the two closest clusters until only one remains, then cut the resulting tree.</a:t>
            </a:r>
            <a:endParaRPr lang="en-US" sz="1150" dirty="0"/>
          </a:p>
        </p:txBody>
      </p:sp>
      <p:sp>
        <p:nvSpPr>
          <p:cNvPr id="15" name="Text 13"/>
          <p:cNvSpPr/>
          <p:nvPr/>
        </p:nvSpPr>
        <p:spPr>
          <a:xfrm>
            <a:off x="3507638" y="3611880"/>
            <a:ext cx="2126894" cy="731520"/>
          </a:xfrm>
          <a:prstGeom prst="rect">
            <a:avLst/>
          </a:prstGeom>
          <a:noFill/>
          <a:ln/>
        </p:spPr>
        <p:txBody>
          <a:bodyPr wrap="square" lIns="0" tIns="0" rIns="0" bIns="0" rtlCol="0" anchor="t"/>
          <a:lstStyle/>
          <a:p>
            <a:pPr indent="0" marL="0">
              <a:lnSpc>
                <a:spcPts val="1400"/>
              </a:lnSpc>
              <a:buNone/>
            </a:pPr>
            <a:r>
              <a:rPr lang="en-US" sz="1050" i="1" dirty="0">
                <a:solidFill>
                  <a:srgbClr val="6E5F62"/>
                </a:solidFill>
                <a:latin typeface="Calibri" pitchFamily="34" charset="0"/>
                <a:ea typeface="Calibri" pitchFamily="34" charset="-122"/>
                <a:cs typeface="Calibri" pitchFamily="34" charset="-120"/>
              </a:rPr>
              <a:t>No need to fix K in advance; the dendrogram is a strong visual. Costly on large data.</a:t>
            </a:r>
            <a:endParaRPr lang="en-US" sz="1050" dirty="0"/>
          </a:p>
        </p:txBody>
      </p:sp>
      <p:sp>
        <p:nvSpPr>
          <p:cNvPr id="16" name="Shape 14"/>
          <p:cNvSpPr/>
          <p:nvPr/>
        </p:nvSpPr>
        <p:spPr>
          <a:xfrm>
            <a:off x="6155741" y="1371600"/>
            <a:ext cx="2529230" cy="3108960"/>
          </a:xfrm>
          <a:prstGeom prst="roundRect">
            <a:avLst>
              <a:gd name="adj" fmla="val 2169"/>
            </a:avLst>
          </a:prstGeom>
          <a:solidFill>
            <a:srgbClr val="FFFFFF"/>
          </a:solidFill>
          <a:ln w="12700">
            <a:solidFill>
              <a:srgbClr val="ECE2D0"/>
            </a:solidFill>
            <a:prstDash val="solid"/>
          </a:ln>
          <a:effectLst>
            <a:outerShdw sx="100000" sy="100000" kx="0" ky="0" algn="bl" rotWithShape="0" blurRad="101600" dist="25400" dir="5400000">
              <a:srgbClr val="AAAAAA">
                <a:alpha val="20000"/>
              </a:srgbClr>
            </a:outerShdw>
          </a:effectLst>
        </p:spPr>
      </p:sp>
      <p:sp>
        <p:nvSpPr>
          <p:cNvPr id="17" name="Shape 15"/>
          <p:cNvSpPr/>
          <p:nvPr/>
        </p:nvSpPr>
        <p:spPr>
          <a:xfrm>
            <a:off x="6356909" y="1572768"/>
            <a:ext cx="384048" cy="384048"/>
          </a:xfrm>
          <a:prstGeom prst="ellipse">
            <a:avLst/>
          </a:prstGeom>
          <a:solidFill>
            <a:srgbClr val="A26769"/>
          </a:solidFill>
          <a:ln w="12700">
            <a:solidFill>
              <a:srgbClr val="A26769"/>
            </a:solidFill>
            <a:prstDash val="solid"/>
          </a:ln>
        </p:spPr>
      </p:sp>
      <p:sp>
        <p:nvSpPr>
          <p:cNvPr id="18" name="Text 16"/>
          <p:cNvSpPr/>
          <p:nvPr/>
        </p:nvSpPr>
        <p:spPr>
          <a:xfrm>
            <a:off x="6356909"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841541" y="1572768"/>
            <a:ext cx="1660550" cy="384048"/>
          </a:xfrm>
          <a:prstGeom prst="rect">
            <a:avLst/>
          </a:prstGeom>
          <a:noFill/>
          <a:ln/>
        </p:spPr>
        <p:txBody>
          <a:bodyPr wrap="square" lIns="0" tIns="0" rIns="0" bIns="0"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DBSCAN</a:t>
            </a:r>
            <a:endParaRPr lang="en-US" sz="1500" dirty="0"/>
          </a:p>
        </p:txBody>
      </p:sp>
      <p:sp>
        <p:nvSpPr>
          <p:cNvPr id="20" name="Text 18"/>
          <p:cNvSpPr/>
          <p:nvPr/>
        </p:nvSpPr>
        <p:spPr>
          <a:xfrm>
            <a:off x="6356909" y="2121408"/>
            <a:ext cx="2126894" cy="1371600"/>
          </a:xfrm>
          <a:prstGeom prst="rect">
            <a:avLst/>
          </a:prstGeom>
          <a:noFill/>
          <a:ln/>
        </p:spPr>
        <p:txBody>
          <a:bodyPr wrap="square" lIns="0" tIns="0" rIns="0" bIns="0" rtlCol="0" anchor="t"/>
          <a:lstStyle/>
          <a:p>
            <a:pPr indent="0" marL="0">
              <a:lnSpc>
                <a:spcPts val="1500"/>
              </a:lnSpc>
              <a:buNone/>
            </a:pPr>
            <a:r>
              <a:rPr lang="en-US" sz="1150" dirty="0">
                <a:solidFill>
                  <a:srgbClr val="2B2124"/>
                </a:solidFill>
                <a:latin typeface="Calibri" pitchFamily="34" charset="0"/>
                <a:ea typeface="Calibri" pitchFamily="34" charset="-122"/>
                <a:cs typeface="Calibri" pitchFamily="34" charset="-120"/>
              </a:rPr>
              <a:t>Wherever points are densely packed, that is a cluster. Core points chain together; isolated points are labelled noise.</a:t>
            </a:r>
            <a:endParaRPr lang="en-US" sz="1150" dirty="0"/>
          </a:p>
        </p:txBody>
      </p:sp>
      <p:sp>
        <p:nvSpPr>
          <p:cNvPr id="21" name="Text 19"/>
          <p:cNvSpPr/>
          <p:nvPr/>
        </p:nvSpPr>
        <p:spPr>
          <a:xfrm>
            <a:off x="6356909" y="3611880"/>
            <a:ext cx="2126894" cy="731520"/>
          </a:xfrm>
          <a:prstGeom prst="rect">
            <a:avLst/>
          </a:prstGeom>
          <a:noFill/>
          <a:ln/>
        </p:spPr>
        <p:txBody>
          <a:bodyPr wrap="square" lIns="0" tIns="0" rIns="0" bIns="0" rtlCol="0" anchor="t"/>
          <a:lstStyle/>
          <a:p>
            <a:pPr indent="0" marL="0">
              <a:lnSpc>
                <a:spcPts val="1400"/>
              </a:lnSpc>
              <a:buNone/>
            </a:pPr>
            <a:r>
              <a:rPr lang="en-US" sz="1050" i="1" dirty="0">
                <a:solidFill>
                  <a:srgbClr val="6E5F62"/>
                </a:solidFill>
                <a:latin typeface="Calibri" pitchFamily="34" charset="0"/>
                <a:ea typeface="Calibri" pitchFamily="34" charset="-122"/>
                <a:cs typeface="Calibri" pitchFamily="34" charset="-120"/>
              </a:rPr>
              <a:t>Finds any shape and detects outliers, but eps and min_samples are hard to tune.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IMPLEMENTATION</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Building K-means from scratch</a:t>
            </a:r>
            <a:endParaRPr lang="en-US" sz="3000" dirty="0"/>
          </a:p>
        </p:txBody>
      </p:sp>
      <p:sp>
        <p:nvSpPr>
          <p:cNvPr id="4" name="Shape 2"/>
          <p:cNvSpPr/>
          <p:nvPr/>
        </p:nvSpPr>
        <p:spPr>
          <a:xfrm>
            <a:off x="457200" y="1453896"/>
            <a:ext cx="329184" cy="329184"/>
          </a:xfrm>
          <a:prstGeom prst="ellipse">
            <a:avLst/>
          </a:prstGeom>
          <a:solidFill>
            <a:srgbClr val="6D2E46"/>
          </a:solidFill>
          <a:ln w="12700">
            <a:solidFill>
              <a:srgbClr val="6D2E46"/>
            </a:solidFill>
            <a:prstDash val="solid"/>
          </a:ln>
        </p:spPr>
      </p:sp>
      <p:sp>
        <p:nvSpPr>
          <p:cNvPr id="5" name="Text 3"/>
          <p:cNvSpPr/>
          <p:nvPr/>
        </p:nvSpPr>
        <p:spPr>
          <a:xfrm>
            <a:off x="457200" y="14538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896112" y="1417320"/>
            <a:ext cx="118872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Initialise</a:t>
            </a:r>
            <a:endParaRPr lang="en-US" sz="1300" dirty="0"/>
          </a:p>
        </p:txBody>
      </p:sp>
      <p:sp>
        <p:nvSpPr>
          <p:cNvPr id="7" name="Text 5"/>
          <p:cNvSpPr/>
          <p:nvPr/>
        </p:nvSpPr>
        <p:spPr>
          <a:xfrm>
            <a:off x="2121408" y="1399032"/>
            <a:ext cx="3246120" cy="685800"/>
          </a:xfrm>
          <a:prstGeom prst="rect">
            <a:avLst/>
          </a:prstGeom>
          <a:noFill/>
          <a:ln/>
        </p:spPr>
        <p:txBody>
          <a:bodyPr wrap="square" lIns="0" tIns="0" rIns="0" bIns="0" rtlCol="0" anchor="t"/>
          <a:lstStyle/>
          <a:p>
            <a:pPr indent="0" marL="0">
              <a:lnSpc>
                <a:spcPts val="1400"/>
              </a:lnSpc>
              <a:buNone/>
            </a:pPr>
            <a:r>
              <a:rPr lang="en-US" sz="1150" dirty="0">
                <a:solidFill>
                  <a:srgbClr val="2B2124"/>
                </a:solidFill>
                <a:latin typeface="Calibri" pitchFamily="34" charset="0"/>
                <a:ea typeface="Calibri" pitchFamily="34" charset="-122"/>
                <a:cs typeface="Calibri" pitchFamily="34" charset="-120"/>
              </a:rPr>
              <a:t>Pick K real data points as starting centroids (Forgy method), so no centroid starts in an empty region.</a:t>
            </a:r>
            <a:endParaRPr lang="en-US" sz="1150" dirty="0"/>
          </a:p>
        </p:txBody>
      </p:sp>
      <p:sp>
        <p:nvSpPr>
          <p:cNvPr id="8" name="Shape 6"/>
          <p:cNvSpPr/>
          <p:nvPr/>
        </p:nvSpPr>
        <p:spPr>
          <a:xfrm>
            <a:off x="457200" y="2212848"/>
            <a:ext cx="329184" cy="329184"/>
          </a:xfrm>
          <a:prstGeom prst="ellipse">
            <a:avLst/>
          </a:prstGeom>
          <a:solidFill>
            <a:srgbClr val="6D2E46"/>
          </a:solidFill>
          <a:ln w="12700">
            <a:solidFill>
              <a:srgbClr val="6D2E46"/>
            </a:solidFill>
            <a:prstDash val="solid"/>
          </a:ln>
        </p:spPr>
      </p:sp>
      <p:sp>
        <p:nvSpPr>
          <p:cNvPr id="9" name="Text 7"/>
          <p:cNvSpPr/>
          <p:nvPr/>
        </p:nvSpPr>
        <p:spPr>
          <a:xfrm>
            <a:off x="457200" y="2212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896112" y="2176272"/>
            <a:ext cx="118872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Assign</a:t>
            </a:r>
            <a:endParaRPr lang="en-US" sz="1300" dirty="0"/>
          </a:p>
        </p:txBody>
      </p:sp>
      <p:sp>
        <p:nvSpPr>
          <p:cNvPr id="11" name="Text 9"/>
          <p:cNvSpPr/>
          <p:nvPr/>
        </p:nvSpPr>
        <p:spPr>
          <a:xfrm>
            <a:off x="2121408" y="2157984"/>
            <a:ext cx="3246120" cy="685800"/>
          </a:xfrm>
          <a:prstGeom prst="rect">
            <a:avLst/>
          </a:prstGeom>
          <a:noFill/>
          <a:ln/>
        </p:spPr>
        <p:txBody>
          <a:bodyPr wrap="square" lIns="0" tIns="0" rIns="0" bIns="0" rtlCol="0" anchor="t"/>
          <a:lstStyle/>
          <a:p>
            <a:pPr indent="0" marL="0">
              <a:lnSpc>
                <a:spcPts val="1400"/>
              </a:lnSpc>
              <a:buNone/>
            </a:pPr>
            <a:r>
              <a:rPr lang="en-US" sz="1150" dirty="0">
                <a:solidFill>
                  <a:srgbClr val="2B2124"/>
                </a:solidFill>
                <a:latin typeface="Calibri" pitchFamily="34" charset="0"/>
                <a:ea typeface="Calibri" pitchFamily="34" charset="-122"/>
                <a:cs typeface="Calibri" pitchFamily="34" charset="-120"/>
              </a:rPr>
              <a:t>Compute the Euclidean distance from every point to every centroid; each point joins the nearest.</a:t>
            </a:r>
            <a:endParaRPr lang="en-US" sz="1150" dirty="0"/>
          </a:p>
        </p:txBody>
      </p:sp>
      <p:sp>
        <p:nvSpPr>
          <p:cNvPr id="12" name="Shape 10"/>
          <p:cNvSpPr/>
          <p:nvPr/>
        </p:nvSpPr>
        <p:spPr>
          <a:xfrm>
            <a:off x="457200" y="2971800"/>
            <a:ext cx="329184" cy="329184"/>
          </a:xfrm>
          <a:prstGeom prst="ellipse">
            <a:avLst/>
          </a:prstGeom>
          <a:solidFill>
            <a:srgbClr val="6D2E46"/>
          </a:solidFill>
          <a:ln w="12700">
            <a:solidFill>
              <a:srgbClr val="6D2E46"/>
            </a:solidFill>
            <a:prstDash val="solid"/>
          </a:ln>
        </p:spPr>
      </p:sp>
      <p:sp>
        <p:nvSpPr>
          <p:cNvPr id="13" name="Text 11"/>
          <p:cNvSpPr/>
          <p:nvPr/>
        </p:nvSpPr>
        <p:spPr>
          <a:xfrm>
            <a:off x="457200"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896112" y="2935224"/>
            <a:ext cx="118872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Update</a:t>
            </a:r>
            <a:endParaRPr lang="en-US" sz="1300" dirty="0"/>
          </a:p>
        </p:txBody>
      </p:sp>
      <p:sp>
        <p:nvSpPr>
          <p:cNvPr id="15" name="Text 13"/>
          <p:cNvSpPr/>
          <p:nvPr/>
        </p:nvSpPr>
        <p:spPr>
          <a:xfrm>
            <a:off x="2121408" y="2916936"/>
            <a:ext cx="3246120" cy="685800"/>
          </a:xfrm>
          <a:prstGeom prst="rect">
            <a:avLst/>
          </a:prstGeom>
          <a:noFill/>
          <a:ln/>
        </p:spPr>
        <p:txBody>
          <a:bodyPr wrap="square" lIns="0" tIns="0" rIns="0" bIns="0" rtlCol="0" anchor="t"/>
          <a:lstStyle/>
          <a:p>
            <a:pPr indent="0" marL="0">
              <a:lnSpc>
                <a:spcPts val="1400"/>
              </a:lnSpc>
              <a:buNone/>
            </a:pPr>
            <a:r>
              <a:rPr lang="en-US" sz="1150" dirty="0">
                <a:solidFill>
                  <a:srgbClr val="2B2124"/>
                </a:solidFill>
                <a:latin typeface="Calibri" pitchFamily="34" charset="0"/>
                <a:ea typeface="Calibri" pitchFamily="34" charset="-122"/>
                <a:cs typeface="Calibri" pitchFamily="34" charset="-120"/>
              </a:rPr>
              <a:t>Move each centroid to the mean position of the points assigned to it.</a:t>
            </a:r>
            <a:endParaRPr lang="en-US" sz="1150" dirty="0"/>
          </a:p>
        </p:txBody>
      </p:sp>
      <p:sp>
        <p:nvSpPr>
          <p:cNvPr id="16" name="Shape 14"/>
          <p:cNvSpPr/>
          <p:nvPr/>
        </p:nvSpPr>
        <p:spPr>
          <a:xfrm>
            <a:off x="457200" y="3730752"/>
            <a:ext cx="329184" cy="329184"/>
          </a:xfrm>
          <a:prstGeom prst="ellipse">
            <a:avLst/>
          </a:prstGeom>
          <a:solidFill>
            <a:srgbClr val="6D2E46"/>
          </a:solidFill>
          <a:ln w="12700">
            <a:solidFill>
              <a:srgbClr val="6D2E46"/>
            </a:solidFill>
            <a:prstDash val="solid"/>
          </a:ln>
        </p:spPr>
      </p:sp>
      <p:sp>
        <p:nvSpPr>
          <p:cNvPr id="17" name="Text 15"/>
          <p:cNvSpPr/>
          <p:nvPr/>
        </p:nvSpPr>
        <p:spPr>
          <a:xfrm>
            <a:off x="457200" y="37307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896112" y="3694176"/>
            <a:ext cx="118872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Converge</a:t>
            </a:r>
            <a:endParaRPr lang="en-US" sz="1300" dirty="0"/>
          </a:p>
        </p:txBody>
      </p:sp>
      <p:sp>
        <p:nvSpPr>
          <p:cNvPr id="19" name="Text 17"/>
          <p:cNvSpPr/>
          <p:nvPr/>
        </p:nvSpPr>
        <p:spPr>
          <a:xfrm>
            <a:off x="2121408" y="3675888"/>
            <a:ext cx="3246120" cy="685800"/>
          </a:xfrm>
          <a:prstGeom prst="rect">
            <a:avLst/>
          </a:prstGeom>
          <a:noFill/>
          <a:ln/>
        </p:spPr>
        <p:txBody>
          <a:bodyPr wrap="square" lIns="0" tIns="0" rIns="0" bIns="0" rtlCol="0" anchor="t"/>
          <a:lstStyle/>
          <a:p>
            <a:pPr indent="0" marL="0">
              <a:lnSpc>
                <a:spcPts val="1400"/>
              </a:lnSpc>
              <a:buNone/>
            </a:pPr>
            <a:r>
              <a:rPr lang="en-US" sz="1150" dirty="0">
                <a:solidFill>
                  <a:srgbClr val="2B2124"/>
                </a:solidFill>
                <a:latin typeface="Calibri" pitchFamily="34" charset="0"/>
                <a:ea typeface="Calibri" pitchFamily="34" charset="-122"/>
                <a:cs typeface="Calibri" pitchFamily="34" charset="-120"/>
              </a:rPr>
              <a:t>Repeat 2 and 3 until the centroids move less than the tolerance, or max_iter is reached.</a:t>
            </a:r>
            <a:endParaRPr lang="en-US" sz="1150" dirty="0"/>
          </a:p>
        </p:txBody>
      </p:sp>
      <p:sp>
        <p:nvSpPr>
          <p:cNvPr id="20" name="Shape 18"/>
          <p:cNvSpPr/>
          <p:nvPr/>
        </p:nvSpPr>
        <p:spPr>
          <a:xfrm>
            <a:off x="5669280" y="1371600"/>
            <a:ext cx="3017520" cy="3108960"/>
          </a:xfrm>
          <a:prstGeom prst="roundRect">
            <a:avLst>
              <a:gd name="adj" fmla="val 1818"/>
            </a:avLst>
          </a:prstGeom>
          <a:solidFill>
            <a:srgbClr val="4A1F30"/>
          </a:solidFill>
          <a:ln w="12700">
            <a:solidFill>
              <a:srgbClr val="4A1F30"/>
            </a:solidFill>
            <a:prstDash val="solid"/>
          </a:ln>
        </p:spPr>
      </p:sp>
      <p:sp>
        <p:nvSpPr>
          <p:cNvPr id="21" name="Text 19"/>
          <p:cNvSpPr/>
          <p:nvPr/>
        </p:nvSpPr>
        <p:spPr>
          <a:xfrm>
            <a:off x="5897880" y="1554480"/>
            <a:ext cx="2560320" cy="320040"/>
          </a:xfrm>
          <a:prstGeom prst="rect">
            <a:avLst/>
          </a:prstGeom>
          <a:noFill/>
          <a:ln/>
        </p:spPr>
        <p:txBody>
          <a:bodyPr wrap="square" lIns="0" tIns="0" rIns="0" bIns="0" rtlCol="0" anchor="ctr"/>
          <a:lstStyle/>
          <a:p>
            <a:pPr indent="0" marL="0">
              <a:buNone/>
            </a:pPr>
            <a:r>
              <a:rPr lang="en-US" sz="1400" b="1" dirty="0">
                <a:solidFill>
                  <a:srgbClr val="C08A2E"/>
                </a:solidFill>
                <a:latin typeface="Courier New" pitchFamily="34" charset="0"/>
                <a:ea typeface="Courier New" pitchFamily="34" charset="-122"/>
                <a:cs typeface="Courier New" pitchFamily="34" charset="-120"/>
              </a:rPr>
              <a:t>kmeans.py</a:t>
            </a:r>
            <a:endParaRPr lang="en-US" sz="1400" dirty="0"/>
          </a:p>
        </p:txBody>
      </p:sp>
      <p:sp>
        <p:nvSpPr>
          <p:cNvPr id="22" name="Text 20"/>
          <p:cNvSpPr/>
          <p:nvPr/>
        </p:nvSpPr>
        <p:spPr>
          <a:xfrm>
            <a:off x="5897880" y="1965960"/>
            <a:ext cx="2560320" cy="1600200"/>
          </a:xfrm>
          <a:prstGeom prst="rect">
            <a:avLst/>
          </a:prstGeom>
          <a:noFill/>
          <a:ln/>
        </p:spPr>
        <p:txBody>
          <a:bodyPr wrap="square" lIns="0" tIns="0" rIns="0" bIns="0" rtlCol="0" anchor="t"/>
          <a:lstStyle/>
          <a:p>
            <a:pPr indent="0" marL="0">
              <a:lnSpc>
                <a:spcPts val="1600"/>
              </a:lnSpc>
              <a:buNone/>
            </a:pPr>
            <a:r>
              <a:rPr lang="en-US" sz="1150" b="1" dirty="0">
                <a:solidFill>
                  <a:srgbClr val="ECE2D0"/>
                </a:solidFill>
                <a:latin typeface="Courier New" pitchFamily="34" charset="0"/>
                <a:ea typeface="Courier New" pitchFamily="34" charset="-122"/>
                <a:cs typeface="Courier New" pitchFamily="34" charset="-120"/>
              </a:rPr>
              <a:t>class KMeans:</a:t>
            </a:r>
            <a:endParaRPr lang="en-US" sz="1150" dirty="0"/>
          </a:p>
          <a:p>
            <a:pPr indent="0" marL="0">
              <a:lnSpc>
                <a:spcPts val="1600"/>
              </a:lnSpc>
              <a:buNone/>
            </a:pPr>
            <a:r>
              <a:rPr lang="en-US" sz="1150" dirty="0">
                <a:solidFill>
                  <a:srgbClr val="ECE2D0"/>
                </a:solidFill>
                <a:latin typeface="Courier New" pitchFamily="34" charset="0"/>
                <a:ea typeface="Courier New" pitchFamily="34" charset="-122"/>
                <a:cs typeface="Courier New" pitchFamily="34" charset="-120"/>
              </a:rPr>
              <a:t>  fit(X)</a:t>
            </a:r>
            <a:endParaRPr lang="en-US" sz="1150" dirty="0"/>
          </a:p>
          <a:p>
            <a:pPr indent="0" marL="0">
              <a:lnSpc>
                <a:spcPts val="1600"/>
              </a:lnSpc>
              <a:buNone/>
            </a:pPr>
            <a:r>
              <a:rPr lang="en-US" sz="1150" dirty="0">
                <a:solidFill>
                  <a:srgbClr val="ECE2D0"/>
                </a:solidFill>
                <a:latin typeface="Courier New" pitchFamily="34" charset="0"/>
                <a:ea typeface="Courier New" pitchFamily="34" charset="-122"/>
                <a:cs typeface="Courier New" pitchFamily="34" charset="-120"/>
              </a:rPr>
              <a:t>  predict(X)</a:t>
            </a:r>
            <a:endParaRPr lang="en-US" sz="1150" dirty="0"/>
          </a:p>
          <a:p>
            <a:pPr indent="0" marL="0">
              <a:lnSpc>
                <a:spcPts val="1600"/>
              </a:lnSpc>
              <a:buNone/>
            </a:pPr>
            <a:r>
              <a:rPr lang="en-US" sz="1150" dirty="0">
                <a:solidFill>
                  <a:srgbClr val="ECE2D0"/>
                </a:solidFill>
                <a:latin typeface="Courier New" pitchFamily="34" charset="0"/>
                <a:ea typeface="Courier New" pitchFamily="34" charset="-122"/>
                <a:cs typeface="Courier New" pitchFamily="34" charset="-120"/>
              </a:rPr>
              <a:t>  fit_predict(X)</a:t>
            </a:r>
            <a:endParaRPr lang="en-US" sz="1150" dirty="0"/>
          </a:p>
          <a:p>
            <a:pPr indent="0" marL="0">
              <a:lnSpc>
                <a:spcPts val="1600"/>
              </a:lnSpc>
              <a:buNone/>
            </a:pPr>
            <a:r>
              <a:rPr lang="en-US" sz="1150" dirty="0">
                <a:solidFill>
                  <a:srgbClr val="ECE2D0"/>
                </a:solidFill>
                <a:latin typeface="Courier New" pitchFamily="34" charset="0"/>
                <a:ea typeface="Courier New" pitchFamily="34" charset="-122"/>
                <a:cs typeface="Courier New" pitchFamily="34" charset="-120"/>
              </a:rPr>
              <a:t>  .centroids</a:t>
            </a:r>
            <a:endParaRPr lang="en-US" sz="1150" dirty="0"/>
          </a:p>
          <a:p>
            <a:pPr indent="0" marL="0">
              <a:lnSpc>
                <a:spcPts val="1600"/>
              </a:lnSpc>
              <a:buNone/>
            </a:pPr>
            <a:r>
              <a:rPr lang="en-US" sz="1150" dirty="0">
                <a:solidFill>
                  <a:srgbClr val="ECE2D0"/>
                </a:solidFill>
                <a:latin typeface="Courier New" pitchFamily="34" charset="0"/>
                <a:ea typeface="Courier New" pitchFamily="34" charset="-122"/>
                <a:cs typeface="Courier New" pitchFamily="34" charset="-120"/>
              </a:rPr>
              <a:t>  .labels</a:t>
            </a:r>
            <a:endParaRPr lang="en-US" sz="1150" dirty="0"/>
          </a:p>
          <a:p>
            <a:pPr indent="0" marL="0">
              <a:lnSpc>
                <a:spcPts val="1600"/>
              </a:lnSpc>
              <a:buNone/>
            </a:pPr>
            <a:r>
              <a:rPr lang="en-US" sz="1150" dirty="0">
                <a:solidFill>
                  <a:srgbClr val="ECE2D0"/>
                </a:solidFill>
                <a:latin typeface="Courier New" pitchFamily="34" charset="0"/>
                <a:ea typeface="Courier New" pitchFamily="34" charset="-122"/>
                <a:cs typeface="Courier New" pitchFamily="34" charset="-120"/>
              </a:rPr>
              <a:t>  .inertia_</a:t>
            </a:r>
            <a:endParaRPr lang="en-US" sz="1150" dirty="0"/>
          </a:p>
          <a:p>
            <a:pPr indent="0" marL="0">
              <a:lnSpc>
                <a:spcPts val="1600"/>
              </a:lnSpc>
              <a:buNone/>
            </a:pPr>
            <a:r>
              <a:rPr lang="en-US" sz="1150" dirty="0">
                <a:solidFill>
                  <a:srgbClr val="ECE2D0"/>
                </a:solidFill>
                <a:latin typeface="Courier New" pitchFamily="34" charset="0"/>
                <a:ea typeface="Courier New" pitchFamily="34" charset="-122"/>
                <a:cs typeface="Courier New" pitchFamily="34" charset="-120"/>
              </a:rPr>
              <a:t>  .n_iter_</a:t>
            </a:r>
            <a:endParaRPr lang="en-US" sz="1150" dirty="0"/>
          </a:p>
        </p:txBody>
      </p:sp>
      <p:sp>
        <p:nvSpPr>
          <p:cNvPr id="23" name="Text 21"/>
          <p:cNvSpPr/>
          <p:nvPr/>
        </p:nvSpPr>
        <p:spPr>
          <a:xfrm>
            <a:off x="5897880" y="3657600"/>
            <a:ext cx="2560320" cy="685800"/>
          </a:xfrm>
          <a:prstGeom prst="rect">
            <a:avLst/>
          </a:prstGeom>
          <a:noFill/>
          <a:ln/>
        </p:spPr>
        <p:txBody>
          <a:bodyPr wrap="square" lIns="0" tIns="0" rIns="0" bIns="0" rtlCol="0" anchor="t"/>
          <a:lstStyle/>
          <a:p>
            <a:pPr indent="0" marL="0">
              <a:lnSpc>
                <a:spcPts val="1300"/>
              </a:lnSpc>
              <a:buNone/>
            </a:pPr>
            <a:r>
              <a:rPr lang="en-US" sz="1000" i="1" dirty="0">
                <a:solidFill>
                  <a:srgbClr val="A26769"/>
                </a:solidFill>
                <a:latin typeface="Calibri" pitchFamily="34" charset="0"/>
                <a:ea typeface="Calibri" pitchFamily="34" charset="-122"/>
                <a:cs typeface="Calibri" pitchFamily="34" charset="-120"/>
              </a:rPr>
              <a:t>NumPy only — importing scikit-learn here would defeat the purpose. Same method names as scikit-learn, so the two are directly interchangeable.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VALIDATION</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Does our K-means actually work? Iris says yes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937760" cy="914400"/>
        </p:xfrm>
        <a:graphic>
          <a:graphicData uri="http://schemas.openxmlformats.org/drawingml/2006/table">
            <a:tbl>
              <a:tblPr/>
              <a:tblGrid>
                <a:gridCol w="1554480"/>
                <a:gridCol w="1783080"/>
                <a:gridCol w="1600200"/>
              </a:tblGrid>
              <a:tr h="384048">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solidFill>
                      <a:srgbClr val="F7F1E8"/>
                    </a:solidFill>
                  </a:tcPr>
                </a:tc>
                <a:tc>
                  <a:txBody>
                    <a:bodyPr/>
                    <a:lstStyle/>
                    <a:p>
                      <a:pPr algn="l" indent="0" marL="0">
                        <a:buNone/>
                      </a:pPr>
                      <a:r>
                        <a:rPr lang="en-US" sz="1200" b="1" dirty="0">
                          <a:solidFill>
                            <a:srgbClr val="6D2E46"/>
                          </a:solidFill>
                          <a:latin typeface="Calibri" pitchFamily="34" charset="0"/>
                          <a:ea typeface="Calibri" pitchFamily="34" charset="-122"/>
                          <a:cs typeface="Calibri" pitchFamily="34" charset="-120"/>
                        </a:rPr>
                        <a:t>Our implementation</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solidFill>
                      <a:srgbClr val="F7F1E8"/>
                    </a:solidFill>
                  </a:tcPr>
                </a:tc>
                <a:tc>
                  <a:txBody>
                    <a:bodyPr/>
                    <a:lstStyle/>
                    <a:p>
                      <a:pPr algn="l" indent="0" marL="0">
                        <a:buNone/>
                      </a:pPr>
                      <a:r>
                        <a:rPr lang="en-US" sz="1200" b="1" dirty="0">
                          <a:solidFill>
                            <a:srgbClr val="6D2E46"/>
                          </a:solidFill>
                          <a:latin typeface="Calibri" pitchFamily="34" charset="0"/>
                          <a:ea typeface="Calibri" pitchFamily="34" charset="-122"/>
                          <a:cs typeface="Calibri" pitchFamily="34" charset="-120"/>
                        </a:rPr>
                        <a:t>Scikit-Learn</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solidFill>
                      <a:srgbClr val="F7F1E8"/>
                    </a:solidFill>
                  </a:tcPr>
                </a:tc>
              </a:tr>
              <a:tr h="384048">
                <a:tc>
                  <a:txBody>
                    <a:bodyPr/>
                    <a:lstStyle/>
                    <a:p>
                      <a:pPr algn="l" indent="0" marL="0">
                        <a:buNone/>
                      </a:pPr>
                      <a:r>
                        <a:rPr lang="en-US" sz="1200" b="1" dirty="0">
                          <a:solidFill>
                            <a:srgbClr val="2B2124"/>
                          </a:solidFill>
                          <a:latin typeface="Calibri" pitchFamily="34" charset="0"/>
                          <a:ea typeface="Calibri" pitchFamily="34" charset="-122"/>
                          <a:cs typeface="Calibri" pitchFamily="34" charset="-120"/>
                        </a:rPr>
                        <a:t>Iterations</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c>
                  <a:txBody>
                    <a:bodyPr/>
                    <a:lstStyle/>
                    <a:p>
                      <a:pPr algn="l" indent="0" marL="0">
                        <a:buNone/>
                      </a:pPr>
                      <a:r>
                        <a:rPr lang="en-US" sz="1200" dirty="0">
                          <a:solidFill>
                            <a:srgbClr val="2B212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c>
                  <a:txBody>
                    <a:bodyPr/>
                    <a:lstStyle/>
                    <a:p>
                      <a:pPr algn="l" indent="0" marL="0">
                        <a:buNone/>
                      </a:pPr>
                      <a:r>
                        <a:rPr lang="en-US" sz="1200" dirty="0">
                          <a:solidFill>
                            <a:srgbClr val="2B212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r>
              <a:tr h="384048">
                <a:tc>
                  <a:txBody>
                    <a:bodyPr/>
                    <a:lstStyle/>
                    <a:p>
                      <a:pPr algn="l" indent="0" marL="0">
                        <a:buNone/>
                      </a:pPr>
                      <a:r>
                        <a:rPr lang="en-US" sz="1200" b="1" dirty="0">
                          <a:solidFill>
                            <a:srgbClr val="2B2124"/>
                          </a:solidFill>
                          <a:latin typeface="Calibri" pitchFamily="34" charset="0"/>
                          <a:ea typeface="Calibri" pitchFamily="34" charset="-122"/>
                          <a:cs typeface="Calibri" pitchFamily="34" charset="-120"/>
                        </a:rPr>
                        <a:t>Inertia</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c>
                  <a:txBody>
                    <a:bodyPr/>
                    <a:lstStyle/>
                    <a:p>
                      <a:pPr algn="l" indent="0" marL="0">
                        <a:buNone/>
                      </a:pPr>
                      <a:r>
                        <a:rPr lang="en-US" sz="1200" dirty="0">
                          <a:solidFill>
                            <a:srgbClr val="2B2124"/>
                          </a:solidFill>
                          <a:latin typeface="Calibri" pitchFamily="34" charset="0"/>
                          <a:ea typeface="Calibri" pitchFamily="34" charset="-122"/>
                          <a:cs typeface="Calibri" pitchFamily="34" charset="-120"/>
                        </a:rPr>
                        <a:t>140.033</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c>
                  <a:txBody>
                    <a:bodyPr/>
                    <a:lstStyle/>
                    <a:p>
                      <a:pPr algn="l" indent="0" marL="0">
                        <a:buNone/>
                      </a:pPr>
                      <a:r>
                        <a:rPr lang="en-US" sz="1200" dirty="0">
                          <a:solidFill>
                            <a:srgbClr val="2B2124"/>
                          </a:solidFill>
                          <a:latin typeface="Calibri" pitchFamily="34" charset="0"/>
                          <a:ea typeface="Calibri" pitchFamily="34" charset="-122"/>
                          <a:cs typeface="Calibri" pitchFamily="34" charset="-120"/>
                        </a:rPr>
                        <a:t>139.821</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r>
              <a:tr h="384048">
                <a:tc>
                  <a:txBody>
                    <a:bodyPr/>
                    <a:lstStyle/>
                    <a:p>
                      <a:pPr algn="l" indent="0" marL="0">
                        <a:buNone/>
                      </a:pPr>
                      <a:r>
                        <a:rPr lang="en-US" sz="1200" b="1" dirty="0">
                          <a:solidFill>
                            <a:srgbClr val="2B2124"/>
                          </a:solidFill>
                          <a:latin typeface="Calibri" pitchFamily="34" charset="0"/>
                          <a:ea typeface="Calibri" pitchFamily="34" charset="-122"/>
                          <a:cs typeface="Calibri" pitchFamily="34" charset="-120"/>
                        </a:rPr>
                        <a:t>Cluster sizes</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c>
                  <a:txBody>
                    <a:bodyPr/>
                    <a:lstStyle/>
                    <a:p>
                      <a:pPr algn="l" indent="0" marL="0">
                        <a:buNone/>
                      </a:pPr>
                      <a:r>
                        <a:rPr lang="en-US" sz="1200" dirty="0">
                          <a:solidFill>
                            <a:srgbClr val="2B2124"/>
                          </a:solidFill>
                          <a:latin typeface="Calibri" pitchFamily="34" charset="0"/>
                          <a:ea typeface="Calibri" pitchFamily="34" charset="-122"/>
                          <a:cs typeface="Calibri" pitchFamily="34" charset="-120"/>
                        </a:rPr>
                        <a:t>56 / 50 / 44</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c>
                  <a:txBody>
                    <a:bodyPr/>
                    <a:lstStyle/>
                    <a:p>
                      <a:pPr algn="l" indent="0" marL="0">
                        <a:buNone/>
                      </a:pPr>
                      <a:r>
                        <a:rPr lang="en-US" sz="1200" dirty="0">
                          <a:solidFill>
                            <a:srgbClr val="2B2124"/>
                          </a:solidFill>
                          <a:latin typeface="Calibri" pitchFamily="34" charset="0"/>
                          <a:ea typeface="Calibri" pitchFamily="34" charset="-122"/>
                          <a:cs typeface="Calibri" pitchFamily="34" charset="-120"/>
                        </a:rPr>
                        <a:t>53 / 50 / 47</a:t>
                      </a:r>
                      <a:endParaRPr lang="en-US" sz="1200" dirty="0">
                        <a:latin typeface="Calibri" charset="0"/>
                        <a:ea typeface="Calibri" charset="0"/>
                        <a:cs typeface="Calibri" charset="0"/>
                      </a:endParaRPr>
                    </a:p>
                  </a:txBody>
                  <a:tcPr marL="91440" marR="91440" marT="45720" marB="45720" anchor="ctr">
                    <a:lnL w="12700" cap="flat" cmpd="sng" algn="ctr">
                      <a:solidFill>
                        <a:srgbClr val="ECE2D0"/>
                      </a:solidFill>
                      <a:prstDash val="solid"/>
                      <a:round/>
                      <a:headEnd type="none" w="med" len="med"/>
                      <a:tailEnd type="none" w="med" len="med"/>
                    </a:lnL>
                    <a:lnR w="12700" cap="flat" cmpd="sng" algn="ctr">
                      <a:solidFill>
                        <a:srgbClr val="ECE2D0"/>
                      </a:solidFill>
                      <a:prstDash val="solid"/>
                      <a:round/>
                      <a:headEnd type="none" w="med" len="med"/>
                      <a:tailEnd type="none" w="med" len="med"/>
                    </a:lnR>
                    <a:lnT w="12700" cap="flat" cmpd="sng" algn="ctr">
                      <a:solidFill>
                        <a:srgbClr val="ECE2D0"/>
                      </a:solidFill>
                      <a:prstDash val="solid"/>
                      <a:round/>
                      <a:headEnd type="none" w="med" len="med"/>
                      <a:tailEnd type="none" w="med" len="med"/>
                    </a:lnT>
                    <a:lnB w="12700" cap="flat" cmpd="sng" algn="ctr">
                      <a:solidFill>
                        <a:srgbClr val="ECE2D0"/>
                      </a:solidFill>
                      <a:prstDash val="solid"/>
                      <a:round/>
                      <a:headEnd type="none" w="med" len="med"/>
                      <a:tailEnd type="none" w="med" len="med"/>
                    </a:lnB>
                  </a:tcPr>
                </a:tc>
              </a:tr>
            </a:tbl>
          </a:graphicData>
        </a:graphic>
      </p:graphicFrame>
      <p:sp>
        <p:nvSpPr>
          <p:cNvPr id="5" name="Shape 2"/>
          <p:cNvSpPr/>
          <p:nvPr/>
        </p:nvSpPr>
        <p:spPr>
          <a:xfrm>
            <a:off x="457200" y="3246120"/>
            <a:ext cx="4937760" cy="1188720"/>
          </a:xfrm>
          <a:prstGeom prst="roundRect">
            <a:avLst>
              <a:gd name="adj" fmla="val 4615"/>
            </a:avLst>
          </a:prstGeom>
          <a:solidFill>
            <a:srgbClr val="F7F1E8"/>
          </a:solidFill>
          <a:ln w="12700">
            <a:solidFill>
              <a:srgbClr val="ECE2D0"/>
            </a:solidFill>
            <a:prstDash val="solid"/>
          </a:ln>
        </p:spPr>
      </p:sp>
      <p:sp>
        <p:nvSpPr>
          <p:cNvPr id="6" name="Text 3"/>
          <p:cNvSpPr/>
          <p:nvPr/>
        </p:nvSpPr>
        <p:spPr>
          <a:xfrm>
            <a:off x="685800" y="3401568"/>
            <a:ext cx="1371600" cy="59436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0.941</a:t>
            </a:r>
            <a:endParaRPr lang="en-US" sz="3400" dirty="0"/>
          </a:p>
        </p:txBody>
      </p:sp>
      <p:sp>
        <p:nvSpPr>
          <p:cNvPr id="7" name="Text 4"/>
          <p:cNvSpPr/>
          <p:nvPr/>
        </p:nvSpPr>
        <p:spPr>
          <a:xfrm>
            <a:off x="2103120" y="3429000"/>
            <a:ext cx="3108960" cy="868680"/>
          </a:xfrm>
          <a:prstGeom prst="rect">
            <a:avLst/>
          </a:prstGeom>
          <a:noFill/>
          <a:ln/>
        </p:spPr>
        <p:txBody>
          <a:bodyPr wrap="square" lIns="0" tIns="0" rIns="0" bIns="0" rtlCol="0" anchor="ctr"/>
          <a:lstStyle/>
          <a:p>
            <a:pPr indent="0" marL="0">
              <a:lnSpc>
                <a:spcPts val="1500"/>
              </a:lnSpc>
              <a:buNone/>
            </a:pPr>
            <a:r>
              <a:rPr lang="en-US" sz="1150" dirty="0">
                <a:solidFill>
                  <a:srgbClr val="2B2124"/>
                </a:solidFill>
                <a:latin typeface="Calibri" pitchFamily="34" charset="0"/>
                <a:ea typeface="Calibri" pitchFamily="34" charset="-122"/>
                <a:cs typeface="Calibri" pitchFamily="34" charset="-120"/>
              </a:rPr>
              <a:t>Adjusted Rand Index between the two labelings — the two models agree almost perfectly.</a:t>
            </a:r>
            <a:endParaRPr lang="en-US" sz="1150" dirty="0"/>
          </a:p>
        </p:txBody>
      </p:sp>
      <p:sp>
        <p:nvSpPr>
          <p:cNvPr id="8" name="Text 5"/>
          <p:cNvSpPr/>
          <p:nvPr/>
        </p:nvSpPr>
        <p:spPr>
          <a:xfrm>
            <a:off x="5669280" y="1463040"/>
            <a:ext cx="3017520" cy="274320"/>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Running the same model on seven different seeds</a:t>
            </a:r>
            <a:endParaRPr lang="en-US" sz="1200" dirty="0"/>
          </a:p>
        </p:txBody>
      </p:sp>
      <p:sp>
        <p:nvSpPr>
          <p:cNvPr id="9" name="Text 6"/>
          <p:cNvSpPr/>
          <p:nvPr/>
        </p:nvSpPr>
        <p:spPr>
          <a:xfrm>
            <a:off x="5669280" y="1828800"/>
            <a:ext cx="3017520" cy="123444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2124"/>
                </a:solidFill>
                <a:latin typeface="Calibri" pitchFamily="34" charset="0"/>
                <a:ea typeface="Calibri" pitchFamily="34" charset="-122"/>
                <a:cs typeface="Calibri" pitchFamily="34" charset="-120"/>
              </a:rPr>
              <a:t>Seeds 0, 1, 7  →  inertia 140.90</a:t>
            </a:r>
            <a:endParaRPr lang="en-US" sz="1150" dirty="0"/>
          </a:p>
          <a:p>
            <a:pPr marL="342900" indent="-342900">
              <a:spcAft>
                <a:spcPts val="800"/>
              </a:spcAft>
              <a:buSzPct val="100000"/>
              <a:buChar char="•"/>
            </a:pPr>
            <a:r>
              <a:rPr lang="en-US" sz="1150" dirty="0">
                <a:solidFill>
                  <a:srgbClr val="2B2124"/>
                </a:solidFill>
                <a:latin typeface="Calibri" pitchFamily="34" charset="0"/>
                <a:ea typeface="Calibri" pitchFamily="34" charset="-122"/>
                <a:cs typeface="Calibri" pitchFamily="34" charset="-120"/>
              </a:rPr>
              <a:t>Seeds 42, 99, 123  →  inertia 140.03</a:t>
            </a:r>
            <a:endParaRPr lang="en-US" sz="1150" dirty="0"/>
          </a:p>
          <a:p>
            <a:pPr marL="342900" indent="-342900">
              <a:spcAft>
                <a:spcPts val="800"/>
              </a:spcAft>
              <a:buSzPct val="100000"/>
              <a:buChar char="•"/>
            </a:pPr>
            <a:r>
              <a:rPr lang="en-US" sz="1150" dirty="0">
                <a:solidFill>
                  <a:srgbClr val="2B2124"/>
                </a:solidFill>
                <a:latin typeface="Calibri" pitchFamily="34" charset="0"/>
                <a:ea typeface="Calibri" pitchFamily="34" charset="-122"/>
                <a:cs typeface="Calibri" pitchFamily="34" charset="-120"/>
              </a:rPr>
              <a:t>Seed 2024  →  inertia 197.47, sizes 13 / 37 / 100</a:t>
            </a:r>
            <a:endParaRPr lang="en-US" sz="1150" dirty="0"/>
          </a:p>
        </p:txBody>
      </p:sp>
      <p:sp>
        <p:nvSpPr>
          <p:cNvPr id="10" name="Text 7"/>
          <p:cNvSpPr/>
          <p:nvPr/>
        </p:nvSpPr>
        <p:spPr>
          <a:xfrm>
            <a:off x="5669280" y="3246120"/>
            <a:ext cx="3017520" cy="1188720"/>
          </a:xfrm>
          <a:prstGeom prst="rect">
            <a:avLst/>
          </a:prstGeom>
          <a:noFill/>
          <a:ln/>
        </p:spPr>
        <p:txBody>
          <a:bodyPr wrap="square" lIns="0" tIns="0" rIns="0" bIns="0" rtlCol="0" anchor="t"/>
          <a:lstStyle/>
          <a:p>
            <a:pPr indent="0" marL="0">
              <a:lnSpc>
                <a:spcPts val="1400"/>
              </a:lnSpc>
              <a:buNone/>
            </a:pPr>
            <a:r>
              <a:rPr lang="en-US" sz="1050" i="1" dirty="0">
                <a:solidFill>
                  <a:srgbClr val="6E5F62"/>
                </a:solidFill>
                <a:latin typeface="Calibri" pitchFamily="34" charset="0"/>
                <a:ea typeface="Calibri" pitchFamily="34" charset="-122"/>
                <a:cs typeface="Calibri" pitchFamily="34" charset="-120"/>
              </a:rPr>
              <a:t>One bad initialisation collapses the result. This is exactly why scikit-learn restarts ten times by default and keeps its best run — and it answers the brief's question 4 with evidence rather than theory.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THE DATA</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From 2 240 rows to 2 212 usable customers</a:t>
            </a:r>
            <a:endParaRPr lang="en-US" sz="3000" dirty="0"/>
          </a:p>
        </p:txBody>
      </p:sp>
      <p:sp>
        <p:nvSpPr>
          <p:cNvPr id="4" name="Shape 2"/>
          <p:cNvSpPr/>
          <p:nvPr/>
        </p:nvSpPr>
        <p:spPr>
          <a:xfrm>
            <a:off x="457200" y="1417320"/>
            <a:ext cx="5120640" cy="621792"/>
          </a:xfrm>
          <a:prstGeom prst="roundRect">
            <a:avLst>
              <a:gd name="adj" fmla="val 7353"/>
            </a:avLst>
          </a:prstGeom>
          <a:solidFill>
            <a:srgbClr val="F7F1E8"/>
          </a:solidFill>
          <a:ln w="9525">
            <a:solidFill>
              <a:srgbClr val="ECE2D0"/>
            </a:solidFill>
            <a:prstDash val="solid"/>
          </a:ln>
        </p:spPr>
      </p:sp>
      <p:sp>
        <p:nvSpPr>
          <p:cNvPr id="5" name="Text 3"/>
          <p:cNvSpPr/>
          <p:nvPr/>
        </p:nvSpPr>
        <p:spPr>
          <a:xfrm>
            <a:off x="621792" y="1453896"/>
            <a:ext cx="1417320" cy="548640"/>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Column names</a:t>
            </a:r>
            <a:endParaRPr lang="en-US" sz="1150" dirty="0"/>
          </a:p>
        </p:txBody>
      </p:sp>
      <p:sp>
        <p:nvSpPr>
          <p:cNvPr id="6" name="Text 4"/>
          <p:cNvSpPr/>
          <p:nvPr/>
        </p:nvSpPr>
        <p:spPr>
          <a:xfrm>
            <a:off x="2084832" y="1435608"/>
            <a:ext cx="3383280" cy="585216"/>
          </a:xfrm>
          <a:prstGeom prst="rect">
            <a:avLst/>
          </a:prstGeom>
          <a:noFill/>
          <a:ln/>
        </p:spPr>
        <p:txBody>
          <a:bodyPr wrap="square" lIns="0" tIns="0" rIns="0" bIns="0" rtlCol="0" anchor="ctr"/>
          <a:lstStyle/>
          <a:p>
            <a:pPr indent="0" marL="0">
              <a:lnSpc>
                <a:spcPts val="1200"/>
              </a:lnSpc>
              <a:buNone/>
            </a:pPr>
            <a:r>
              <a:rPr lang="en-US" sz="1000" dirty="0">
                <a:solidFill>
                  <a:srgbClr val="2B2124"/>
                </a:solidFill>
                <a:latin typeface="Calibri" pitchFamily="34" charset="0"/>
                <a:ea typeface="Calibri" pitchFamily="34" charset="-122"/>
                <a:cs typeface="Calibri" pitchFamily="34" charset="-120"/>
              </a:rPr>
              <a:t>The file is space-padded, so every name and text value had to be stripped — Income was being read as text, not a number.</a:t>
            </a:r>
            <a:endParaRPr lang="en-US" sz="1000" dirty="0"/>
          </a:p>
        </p:txBody>
      </p:sp>
      <p:sp>
        <p:nvSpPr>
          <p:cNvPr id="7" name="Shape 5"/>
          <p:cNvSpPr/>
          <p:nvPr/>
        </p:nvSpPr>
        <p:spPr>
          <a:xfrm>
            <a:off x="457200" y="2139696"/>
            <a:ext cx="5120640" cy="621792"/>
          </a:xfrm>
          <a:prstGeom prst="roundRect">
            <a:avLst>
              <a:gd name="adj" fmla="val 7353"/>
            </a:avLst>
          </a:prstGeom>
          <a:solidFill>
            <a:srgbClr val="FFFFFF"/>
          </a:solidFill>
          <a:ln w="9525">
            <a:solidFill>
              <a:srgbClr val="ECE2D0"/>
            </a:solidFill>
            <a:prstDash val="solid"/>
          </a:ln>
        </p:spPr>
      </p:sp>
      <p:sp>
        <p:nvSpPr>
          <p:cNvPr id="8" name="Text 6"/>
          <p:cNvSpPr/>
          <p:nvPr/>
        </p:nvSpPr>
        <p:spPr>
          <a:xfrm>
            <a:off x="621792" y="2176272"/>
            <a:ext cx="1417320" cy="548640"/>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Missing income</a:t>
            </a:r>
            <a:endParaRPr lang="en-US" sz="1150" dirty="0"/>
          </a:p>
        </p:txBody>
      </p:sp>
      <p:sp>
        <p:nvSpPr>
          <p:cNvPr id="9" name="Text 7"/>
          <p:cNvSpPr/>
          <p:nvPr/>
        </p:nvSpPr>
        <p:spPr>
          <a:xfrm>
            <a:off x="2084832" y="2157984"/>
            <a:ext cx="3383280" cy="585216"/>
          </a:xfrm>
          <a:prstGeom prst="rect">
            <a:avLst/>
          </a:prstGeom>
          <a:noFill/>
          <a:ln/>
        </p:spPr>
        <p:txBody>
          <a:bodyPr wrap="square" lIns="0" tIns="0" rIns="0" bIns="0" rtlCol="0" anchor="ctr"/>
          <a:lstStyle/>
          <a:p>
            <a:pPr indent="0" marL="0">
              <a:lnSpc>
                <a:spcPts val="1200"/>
              </a:lnSpc>
              <a:buNone/>
            </a:pPr>
            <a:r>
              <a:rPr lang="en-US" sz="1000" dirty="0">
                <a:solidFill>
                  <a:srgbClr val="2B2124"/>
                </a:solidFill>
                <a:latin typeface="Calibri" pitchFamily="34" charset="0"/>
                <a:ea typeface="Calibri" pitchFamily="34" charset="-122"/>
                <a:cs typeface="Calibri" pitchFamily="34" charset="-120"/>
              </a:rPr>
              <a:t>24 customers (1.07%). Dropped rather than imputed: inventing incomes would shift the centroids.</a:t>
            </a:r>
            <a:endParaRPr lang="en-US" sz="1000" dirty="0"/>
          </a:p>
        </p:txBody>
      </p:sp>
      <p:sp>
        <p:nvSpPr>
          <p:cNvPr id="10" name="Shape 8"/>
          <p:cNvSpPr/>
          <p:nvPr/>
        </p:nvSpPr>
        <p:spPr>
          <a:xfrm>
            <a:off x="457200" y="2862072"/>
            <a:ext cx="5120640" cy="621792"/>
          </a:xfrm>
          <a:prstGeom prst="roundRect">
            <a:avLst>
              <a:gd name="adj" fmla="val 7353"/>
            </a:avLst>
          </a:prstGeom>
          <a:solidFill>
            <a:srgbClr val="F7F1E8"/>
          </a:solidFill>
          <a:ln w="9525">
            <a:solidFill>
              <a:srgbClr val="ECE2D0"/>
            </a:solidFill>
            <a:prstDash val="solid"/>
          </a:ln>
        </p:spPr>
      </p:sp>
      <p:sp>
        <p:nvSpPr>
          <p:cNvPr id="11" name="Text 9"/>
          <p:cNvSpPr/>
          <p:nvPr/>
        </p:nvSpPr>
        <p:spPr>
          <a:xfrm>
            <a:off x="621792" y="2898648"/>
            <a:ext cx="1417320" cy="548640"/>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Impossible values</a:t>
            </a:r>
            <a:endParaRPr lang="en-US" sz="1150" dirty="0"/>
          </a:p>
        </p:txBody>
      </p:sp>
      <p:sp>
        <p:nvSpPr>
          <p:cNvPr id="12" name="Text 10"/>
          <p:cNvSpPr/>
          <p:nvPr/>
        </p:nvSpPr>
        <p:spPr>
          <a:xfrm>
            <a:off x="2084832" y="2880360"/>
            <a:ext cx="3383280" cy="585216"/>
          </a:xfrm>
          <a:prstGeom prst="rect">
            <a:avLst/>
          </a:prstGeom>
          <a:noFill/>
          <a:ln/>
        </p:spPr>
        <p:txBody>
          <a:bodyPr wrap="square" lIns="0" tIns="0" rIns="0" bIns="0" rtlCol="0" anchor="ctr"/>
          <a:lstStyle/>
          <a:p>
            <a:pPr indent="0" marL="0">
              <a:lnSpc>
                <a:spcPts val="1200"/>
              </a:lnSpc>
              <a:buNone/>
            </a:pPr>
            <a:r>
              <a:rPr lang="en-US" sz="1000" dirty="0">
                <a:solidFill>
                  <a:srgbClr val="2B2124"/>
                </a:solidFill>
                <a:latin typeface="Calibri" pitchFamily="34" charset="0"/>
                <a:ea typeface="Calibri" pitchFamily="34" charset="-122"/>
                <a:cs typeface="Calibri" pitchFamily="34" charset="-120"/>
              </a:rPr>
              <a:t>3 customers with birth years in the 1890s and 1 income above 600 000, removed as data entry errors.</a:t>
            </a:r>
            <a:endParaRPr lang="en-US" sz="1000" dirty="0"/>
          </a:p>
        </p:txBody>
      </p:sp>
      <p:sp>
        <p:nvSpPr>
          <p:cNvPr id="13" name="Shape 11"/>
          <p:cNvSpPr/>
          <p:nvPr/>
        </p:nvSpPr>
        <p:spPr>
          <a:xfrm>
            <a:off x="457200" y="3584448"/>
            <a:ext cx="5120640" cy="621792"/>
          </a:xfrm>
          <a:prstGeom prst="roundRect">
            <a:avLst>
              <a:gd name="adj" fmla="val 7353"/>
            </a:avLst>
          </a:prstGeom>
          <a:solidFill>
            <a:srgbClr val="FFFFFF"/>
          </a:solidFill>
          <a:ln w="9525">
            <a:solidFill>
              <a:srgbClr val="ECE2D0"/>
            </a:solidFill>
            <a:prstDash val="solid"/>
          </a:ln>
        </p:spPr>
      </p:sp>
      <p:sp>
        <p:nvSpPr>
          <p:cNvPr id="14" name="Text 12"/>
          <p:cNvSpPr/>
          <p:nvPr/>
        </p:nvSpPr>
        <p:spPr>
          <a:xfrm>
            <a:off x="621792" y="3621024"/>
            <a:ext cx="1417320" cy="548640"/>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Empty columns</a:t>
            </a:r>
            <a:endParaRPr lang="en-US" sz="1150" dirty="0"/>
          </a:p>
        </p:txBody>
      </p:sp>
      <p:sp>
        <p:nvSpPr>
          <p:cNvPr id="15" name="Text 13"/>
          <p:cNvSpPr/>
          <p:nvPr/>
        </p:nvSpPr>
        <p:spPr>
          <a:xfrm>
            <a:off x="2084832" y="3602736"/>
            <a:ext cx="3383280" cy="585216"/>
          </a:xfrm>
          <a:prstGeom prst="rect">
            <a:avLst/>
          </a:prstGeom>
          <a:noFill/>
          <a:ln/>
        </p:spPr>
        <p:txBody>
          <a:bodyPr wrap="square" lIns="0" tIns="0" rIns="0" bIns="0" rtlCol="0" anchor="ctr"/>
          <a:lstStyle/>
          <a:p>
            <a:pPr indent="0" marL="0">
              <a:lnSpc>
                <a:spcPts val="1200"/>
              </a:lnSpc>
              <a:buNone/>
            </a:pPr>
            <a:r>
              <a:rPr lang="en-US" sz="1000" dirty="0">
                <a:solidFill>
                  <a:srgbClr val="2B2124"/>
                </a:solidFill>
                <a:latin typeface="Calibri" pitchFamily="34" charset="0"/>
                <a:ea typeface="Calibri" pitchFamily="34" charset="-122"/>
                <a:cs typeface="Calibri" pitchFamily="34" charset="-120"/>
              </a:rPr>
              <a:t>Z_CostContact and Z_Revenue hold one single value for every row and carry no information.</a:t>
            </a:r>
            <a:endParaRPr lang="en-US" sz="1000" dirty="0"/>
          </a:p>
        </p:txBody>
      </p:sp>
      <p:sp>
        <p:nvSpPr>
          <p:cNvPr id="16" name="Shape 14"/>
          <p:cNvSpPr/>
          <p:nvPr/>
        </p:nvSpPr>
        <p:spPr>
          <a:xfrm>
            <a:off x="5852160" y="1417320"/>
            <a:ext cx="2834640" cy="3017520"/>
          </a:xfrm>
          <a:prstGeom prst="roundRect">
            <a:avLst>
              <a:gd name="adj" fmla="val 1935"/>
            </a:avLst>
          </a:prstGeom>
          <a:solidFill>
            <a:srgbClr val="6D2E46"/>
          </a:solidFill>
          <a:ln w="12700">
            <a:solidFill>
              <a:srgbClr val="6D2E46"/>
            </a:solidFill>
            <a:prstDash val="solid"/>
          </a:ln>
        </p:spPr>
      </p:sp>
      <p:sp>
        <p:nvSpPr>
          <p:cNvPr id="17" name="Text 15"/>
          <p:cNvSpPr/>
          <p:nvPr/>
        </p:nvSpPr>
        <p:spPr>
          <a:xfrm>
            <a:off x="6035040" y="1691640"/>
            <a:ext cx="2468880" cy="7315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2 212</a:t>
            </a:r>
            <a:endParaRPr lang="en-US" sz="4200" dirty="0"/>
          </a:p>
        </p:txBody>
      </p:sp>
      <p:sp>
        <p:nvSpPr>
          <p:cNvPr id="18" name="Text 16"/>
          <p:cNvSpPr/>
          <p:nvPr/>
        </p:nvSpPr>
        <p:spPr>
          <a:xfrm>
            <a:off x="6035040" y="2395728"/>
            <a:ext cx="2468880" cy="274320"/>
          </a:xfrm>
          <a:prstGeom prst="rect">
            <a:avLst/>
          </a:prstGeom>
          <a:noFill/>
          <a:ln/>
        </p:spPr>
        <p:txBody>
          <a:bodyPr wrap="square" lIns="0" tIns="0" rIns="0" bIns="0" rtlCol="0" anchor="ctr"/>
          <a:lstStyle/>
          <a:p>
            <a:pPr indent="0" marL="0">
              <a:buNone/>
            </a:pPr>
            <a:r>
              <a:rPr lang="en-US" sz="1200" dirty="0">
                <a:solidFill>
                  <a:srgbClr val="ECE2D0"/>
                </a:solidFill>
                <a:latin typeface="Calibri" pitchFamily="34" charset="0"/>
                <a:ea typeface="Calibri" pitchFamily="34" charset="-122"/>
                <a:cs typeface="Calibri" pitchFamily="34" charset="-120"/>
              </a:rPr>
              <a:t>customers kept</a:t>
            </a:r>
            <a:endParaRPr lang="en-US" sz="1200" dirty="0"/>
          </a:p>
        </p:txBody>
      </p:sp>
      <p:sp>
        <p:nvSpPr>
          <p:cNvPr id="19" name="Text 17"/>
          <p:cNvSpPr/>
          <p:nvPr/>
        </p:nvSpPr>
        <p:spPr>
          <a:xfrm>
            <a:off x="6035040" y="2926080"/>
            <a:ext cx="2468880" cy="274320"/>
          </a:xfrm>
          <a:prstGeom prst="rect">
            <a:avLst/>
          </a:prstGeom>
          <a:noFill/>
          <a:ln/>
        </p:spPr>
        <p:txBody>
          <a:bodyPr wrap="square" lIns="0" tIns="0" rIns="0" bIns="0" rtlCol="0" anchor="ctr"/>
          <a:lstStyle/>
          <a:p>
            <a:pPr indent="0" marL="0">
              <a:buNone/>
            </a:pPr>
            <a:r>
              <a:rPr lang="en-US" sz="1150" b="1" dirty="0">
                <a:solidFill>
                  <a:srgbClr val="C08A2E"/>
                </a:solidFill>
                <a:latin typeface="Calibri" pitchFamily="34" charset="0"/>
                <a:ea typeface="Calibri" pitchFamily="34" charset="-122"/>
                <a:cs typeface="Calibri" pitchFamily="34" charset="-120"/>
              </a:rPr>
              <a:t>Nine new features engineered</a:t>
            </a:r>
            <a:endParaRPr lang="en-US" sz="1150" dirty="0"/>
          </a:p>
        </p:txBody>
      </p:sp>
      <p:sp>
        <p:nvSpPr>
          <p:cNvPr id="20" name="Text 18"/>
          <p:cNvSpPr/>
          <p:nvPr/>
        </p:nvSpPr>
        <p:spPr>
          <a:xfrm>
            <a:off x="6035040" y="3246120"/>
            <a:ext cx="2468880" cy="1005840"/>
          </a:xfrm>
          <a:prstGeom prst="rect">
            <a:avLst/>
          </a:prstGeom>
          <a:noFill/>
          <a:ln/>
        </p:spPr>
        <p:txBody>
          <a:bodyPr wrap="square" lIns="0" tIns="0" rIns="0" bIns="0" rtlCol="0" anchor="t"/>
          <a:lstStyle/>
          <a:p>
            <a:pPr indent="0" marL="0">
              <a:lnSpc>
                <a:spcPts val="1300"/>
              </a:lnSpc>
              <a:buNone/>
            </a:pPr>
            <a:r>
              <a:rPr lang="en-US" sz="1000" dirty="0">
                <a:solidFill>
                  <a:srgbClr val="ECE2D0"/>
                </a:solidFill>
                <a:latin typeface="Calibri" pitchFamily="34" charset="0"/>
                <a:ea typeface="Calibri" pitchFamily="34" charset="-122"/>
                <a:cs typeface="Calibri" pitchFamily="34" charset="-120"/>
              </a:rPr>
              <a:t>Age · Total_Spending · Total_Purchases · Children · Family_Size · Customer_Days · Is_Parent · Education_Level · Living_With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EXPLORATION</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What the data said before any clustering</a:t>
            </a:r>
            <a:endParaRPr lang="en-US" sz="3000" dirty="0"/>
          </a:p>
        </p:txBody>
      </p:sp>
      <p:graphicFrame>
        <p:nvGraphicFramePr>
          <p:cNvPr id="4" name="Chart 0" descr=""/>
          <p:cNvGraphicFramePr/>
          <p:nvPr/>
        </p:nvGraphicFramePr>
        <p:xfrm>
          <a:off x="411480" y="1417320"/>
          <a:ext cx="484632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23560" y="1554480"/>
            <a:ext cx="1005840" cy="457200"/>
          </a:xfrm>
          <a:prstGeom prst="rect">
            <a:avLst/>
          </a:prstGeom>
          <a:noFill/>
          <a:ln/>
        </p:spPr>
        <p:txBody>
          <a:bodyPr wrap="square" lIns="0" tIns="0" rIns="0" bIns="0" rtlCol="0" anchor="ctr"/>
          <a:lstStyle/>
          <a:p>
            <a:pPr indent="0" marL="0">
              <a:buNone/>
            </a:pPr>
            <a:r>
              <a:rPr lang="en-US" sz="2600" b="1" dirty="0">
                <a:solidFill>
                  <a:srgbClr val="6D2E46"/>
                </a:solidFill>
                <a:latin typeface="Cambria" pitchFamily="34" charset="0"/>
                <a:ea typeface="Cambria" pitchFamily="34" charset="-122"/>
                <a:cs typeface="Cambria" pitchFamily="34" charset="-120"/>
              </a:rPr>
              <a:t>+0.79</a:t>
            </a:r>
            <a:endParaRPr lang="en-US" sz="2600" dirty="0"/>
          </a:p>
        </p:txBody>
      </p:sp>
      <p:sp>
        <p:nvSpPr>
          <p:cNvPr id="6" name="Text 3"/>
          <p:cNvSpPr/>
          <p:nvPr/>
        </p:nvSpPr>
        <p:spPr>
          <a:xfrm>
            <a:off x="6675120" y="1536192"/>
            <a:ext cx="2011680" cy="685800"/>
          </a:xfrm>
          <a:prstGeom prst="rect">
            <a:avLst/>
          </a:prstGeom>
          <a:noFill/>
          <a:ln/>
        </p:spPr>
        <p:txBody>
          <a:bodyPr wrap="square" lIns="0" tIns="0" rIns="0" bIns="0" rtlCol="0" anchor="t"/>
          <a:lstStyle/>
          <a:p>
            <a:pPr indent="0" marL="0">
              <a:lnSpc>
                <a:spcPts val="1300"/>
              </a:lnSpc>
              <a:buNone/>
            </a:pPr>
            <a:r>
              <a:rPr lang="en-US" sz="1050" dirty="0">
                <a:solidFill>
                  <a:srgbClr val="2B2124"/>
                </a:solidFill>
                <a:latin typeface="Calibri" pitchFamily="34" charset="0"/>
                <a:ea typeface="Calibri" pitchFamily="34" charset="-122"/>
                <a:cs typeface="Calibri" pitchFamily="34" charset="-120"/>
              </a:rPr>
              <a:t>Income and total spending move together</a:t>
            </a:r>
            <a:endParaRPr lang="en-US" sz="1050" dirty="0"/>
          </a:p>
        </p:txBody>
      </p:sp>
      <p:sp>
        <p:nvSpPr>
          <p:cNvPr id="7" name="Text 4"/>
          <p:cNvSpPr/>
          <p:nvPr/>
        </p:nvSpPr>
        <p:spPr>
          <a:xfrm>
            <a:off x="5623560" y="2514600"/>
            <a:ext cx="1005840" cy="457200"/>
          </a:xfrm>
          <a:prstGeom prst="rect">
            <a:avLst/>
          </a:prstGeom>
          <a:noFill/>
          <a:ln/>
        </p:spPr>
        <p:txBody>
          <a:bodyPr wrap="square" lIns="0" tIns="0" rIns="0" bIns="0" rtlCol="0" anchor="ctr"/>
          <a:lstStyle/>
          <a:p>
            <a:pPr indent="0" marL="0">
              <a:buNone/>
            </a:pPr>
            <a:r>
              <a:rPr lang="en-US" sz="2600" b="1" dirty="0">
                <a:solidFill>
                  <a:srgbClr val="A26769"/>
                </a:solidFill>
                <a:latin typeface="Cambria" pitchFamily="34" charset="0"/>
                <a:ea typeface="Cambria" pitchFamily="34" charset="-122"/>
                <a:cs typeface="Cambria" pitchFamily="34" charset="-120"/>
              </a:rPr>
              <a:t>-0.50</a:t>
            </a:r>
            <a:endParaRPr lang="en-US" sz="2600" dirty="0"/>
          </a:p>
        </p:txBody>
      </p:sp>
      <p:sp>
        <p:nvSpPr>
          <p:cNvPr id="8" name="Text 5"/>
          <p:cNvSpPr/>
          <p:nvPr/>
        </p:nvSpPr>
        <p:spPr>
          <a:xfrm>
            <a:off x="6675120" y="2496312"/>
            <a:ext cx="2011680" cy="685800"/>
          </a:xfrm>
          <a:prstGeom prst="rect">
            <a:avLst/>
          </a:prstGeom>
          <a:noFill/>
          <a:ln/>
        </p:spPr>
        <p:txBody>
          <a:bodyPr wrap="square" lIns="0" tIns="0" rIns="0" bIns="0" rtlCol="0" anchor="t"/>
          <a:lstStyle/>
          <a:p>
            <a:pPr indent="0" marL="0">
              <a:lnSpc>
                <a:spcPts val="1300"/>
              </a:lnSpc>
              <a:buNone/>
            </a:pPr>
            <a:r>
              <a:rPr lang="en-US" sz="1050" dirty="0">
                <a:solidFill>
                  <a:srgbClr val="2B2124"/>
                </a:solidFill>
                <a:latin typeface="Calibri" pitchFamily="34" charset="0"/>
                <a:ea typeface="Calibri" pitchFamily="34" charset="-122"/>
                <a:cs typeface="Calibri" pitchFamily="34" charset="-120"/>
              </a:rPr>
              <a:t>More children, less total spending</a:t>
            </a:r>
            <a:endParaRPr lang="en-US" sz="1050" dirty="0"/>
          </a:p>
        </p:txBody>
      </p:sp>
      <p:sp>
        <p:nvSpPr>
          <p:cNvPr id="9" name="Text 6"/>
          <p:cNvSpPr/>
          <p:nvPr/>
        </p:nvSpPr>
        <p:spPr>
          <a:xfrm>
            <a:off x="5623560" y="3474720"/>
            <a:ext cx="1005840" cy="457200"/>
          </a:xfrm>
          <a:prstGeom prst="rect">
            <a:avLst/>
          </a:prstGeom>
          <a:noFill/>
          <a:ln/>
        </p:spPr>
        <p:txBody>
          <a:bodyPr wrap="square" lIns="0" tIns="0" rIns="0" bIns="0" rtlCol="0" anchor="ctr"/>
          <a:lstStyle/>
          <a:p>
            <a:pPr indent="0" marL="0">
              <a:buNone/>
            </a:pPr>
            <a:r>
              <a:rPr lang="en-US" sz="2600" b="1" dirty="0">
                <a:solidFill>
                  <a:srgbClr val="C08A2E"/>
                </a:solidFill>
                <a:latin typeface="Cambria" pitchFamily="34" charset="0"/>
                <a:ea typeface="Cambria" pitchFamily="34" charset="-122"/>
                <a:cs typeface="Cambria" pitchFamily="34" charset="-120"/>
              </a:rPr>
              <a:t>-0.65</a:t>
            </a:r>
            <a:endParaRPr lang="en-US" sz="2600" dirty="0"/>
          </a:p>
        </p:txBody>
      </p:sp>
      <p:sp>
        <p:nvSpPr>
          <p:cNvPr id="10" name="Text 7"/>
          <p:cNvSpPr/>
          <p:nvPr/>
        </p:nvSpPr>
        <p:spPr>
          <a:xfrm>
            <a:off x="6675120" y="3456432"/>
            <a:ext cx="2011680" cy="685800"/>
          </a:xfrm>
          <a:prstGeom prst="rect">
            <a:avLst/>
          </a:prstGeom>
          <a:noFill/>
          <a:ln/>
        </p:spPr>
        <p:txBody>
          <a:bodyPr wrap="square" lIns="0" tIns="0" rIns="0" bIns="0" rtlCol="0" anchor="t"/>
          <a:lstStyle/>
          <a:p>
            <a:pPr indent="0" marL="0">
              <a:lnSpc>
                <a:spcPts val="1300"/>
              </a:lnSpc>
              <a:buNone/>
            </a:pPr>
            <a:r>
              <a:rPr lang="en-US" sz="1050" dirty="0">
                <a:solidFill>
                  <a:srgbClr val="2B2124"/>
                </a:solidFill>
                <a:latin typeface="Calibri" pitchFamily="34" charset="0"/>
                <a:ea typeface="Calibri" pitchFamily="34" charset="-122"/>
                <a:cs typeface="Calibri" pitchFamily="34" charset="-120"/>
              </a:rPr>
              <a:t>Higher income, fewer website visits</a:t>
            </a:r>
            <a:endParaRPr lang="en-US" sz="1050" dirty="0"/>
          </a:p>
        </p:txBody>
      </p:sp>
      <p:sp>
        <p:nvSpPr>
          <p:cNvPr id="11" name="Text 8"/>
          <p:cNvSpPr/>
          <p:nvPr/>
        </p:nvSpPr>
        <p:spPr>
          <a:xfrm>
            <a:off x="5623560" y="3977640"/>
            <a:ext cx="3063240" cy="502920"/>
          </a:xfrm>
          <a:prstGeom prst="rect">
            <a:avLst/>
          </a:prstGeom>
          <a:noFill/>
          <a:ln/>
        </p:spPr>
        <p:txBody>
          <a:bodyPr wrap="square" lIns="0" tIns="0" rIns="0" bIns="0" rtlCol="0" anchor="t"/>
          <a:lstStyle/>
          <a:p>
            <a:pPr indent="0" marL="0">
              <a:lnSpc>
                <a:spcPts val="1300"/>
              </a:lnSpc>
              <a:buNone/>
            </a:pPr>
            <a:r>
              <a:rPr lang="en-US" sz="1050" i="1" dirty="0">
                <a:solidFill>
                  <a:srgbClr val="6E5F62"/>
                </a:solidFill>
                <a:latin typeface="Calibri" pitchFamily="34" charset="0"/>
                <a:ea typeface="Calibri" pitchFamily="34" charset="-122"/>
                <a:cs typeface="Calibri" pitchFamily="34" charset="-120"/>
              </a:rPr>
              <a:t>Correlations already hint at two axes: purchasing power and family situation.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Preparing the data, and choosing k</a:t>
            </a:r>
            <a:endParaRPr lang="en-US" sz="3000" dirty="0"/>
          </a:p>
        </p:txBody>
      </p:sp>
      <p:sp>
        <p:nvSpPr>
          <p:cNvPr id="4" name="Shape 2"/>
          <p:cNvSpPr/>
          <p:nvPr/>
        </p:nvSpPr>
        <p:spPr>
          <a:xfrm>
            <a:off x="457200" y="1371600"/>
            <a:ext cx="2587752" cy="1371600"/>
          </a:xfrm>
          <a:prstGeom prst="roundRect">
            <a:avLst>
              <a:gd name="adj" fmla="val 4000"/>
            </a:avLst>
          </a:prstGeom>
          <a:solidFill>
            <a:srgbClr val="F7F1E8"/>
          </a:solidFill>
          <a:ln w="12700">
            <a:solidFill>
              <a:srgbClr val="ECE2D0"/>
            </a:solidFill>
            <a:prstDash val="solid"/>
          </a:ln>
        </p:spPr>
      </p:sp>
      <p:sp>
        <p:nvSpPr>
          <p:cNvPr id="5" name="Text 3"/>
          <p:cNvSpPr/>
          <p:nvPr/>
        </p:nvSpPr>
        <p:spPr>
          <a:xfrm>
            <a:off x="640080" y="1508760"/>
            <a:ext cx="2240280" cy="320040"/>
          </a:xfrm>
          <a:prstGeom prst="rect">
            <a:avLst/>
          </a:prstGeom>
          <a:noFill/>
          <a:ln/>
        </p:spPr>
        <p:txBody>
          <a:bodyPr wrap="square" lIns="0" tIns="0" rIns="0" bIns="0"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12 features</a:t>
            </a:r>
            <a:endParaRPr lang="en-US" sz="1500" dirty="0"/>
          </a:p>
        </p:txBody>
      </p:sp>
      <p:sp>
        <p:nvSpPr>
          <p:cNvPr id="6" name="Text 4"/>
          <p:cNvSpPr/>
          <p:nvPr/>
        </p:nvSpPr>
        <p:spPr>
          <a:xfrm>
            <a:off x="640080" y="1847088"/>
            <a:ext cx="2240280" cy="777240"/>
          </a:xfrm>
          <a:prstGeom prst="rect">
            <a:avLst/>
          </a:prstGeom>
          <a:noFill/>
          <a:ln/>
        </p:spPr>
        <p:txBody>
          <a:bodyPr wrap="square" lIns="0" tIns="0" rIns="0" bIns="0" rtlCol="0" anchor="t"/>
          <a:lstStyle/>
          <a:p>
            <a:pPr indent="0" marL="0">
              <a:lnSpc>
                <a:spcPts val="1300"/>
              </a:lnSpc>
              <a:buNone/>
            </a:pPr>
            <a:r>
              <a:rPr lang="en-US" sz="1050" dirty="0">
                <a:solidFill>
                  <a:srgbClr val="2B2124"/>
                </a:solidFill>
                <a:latin typeface="Calibri" pitchFamily="34" charset="0"/>
                <a:ea typeface="Calibri" pitchFamily="34" charset="-122"/>
                <a:cs typeface="Calibri" pitchFamily="34" charset="-120"/>
              </a:rPr>
              <a:t>Selected from 31 columns: identity, spending, channels. Redundant and campaign columns dropped.</a:t>
            </a:r>
            <a:endParaRPr lang="en-US" sz="1050" dirty="0"/>
          </a:p>
        </p:txBody>
      </p:sp>
      <p:sp>
        <p:nvSpPr>
          <p:cNvPr id="7" name="Text 5"/>
          <p:cNvSpPr/>
          <p:nvPr/>
        </p:nvSpPr>
        <p:spPr>
          <a:xfrm>
            <a:off x="3063240" y="1828800"/>
            <a:ext cx="256032" cy="365760"/>
          </a:xfrm>
          <a:prstGeom prst="rect">
            <a:avLst/>
          </a:prstGeom>
          <a:noFill/>
          <a:ln/>
        </p:spPr>
        <p:txBody>
          <a:bodyPr wrap="square" lIns="0" tIns="0" rIns="0" bIns="0" rtlCol="0" anchor="ctr"/>
          <a:lstStyle/>
          <a:p>
            <a:pPr algn="ctr" indent="0" marL="0">
              <a:buNone/>
            </a:pPr>
            <a:r>
              <a:rPr lang="en-US" sz="1800" b="1" dirty="0">
                <a:solidFill>
                  <a:srgbClr val="A26769"/>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319272" y="1371600"/>
            <a:ext cx="2587752" cy="1371600"/>
          </a:xfrm>
          <a:prstGeom prst="roundRect">
            <a:avLst>
              <a:gd name="adj" fmla="val 4000"/>
            </a:avLst>
          </a:prstGeom>
          <a:solidFill>
            <a:srgbClr val="F7F1E8"/>
          </a:solidFill>
          <a:ln w="12700">
            <a:solidFill>
              <a:srgbClr val="ECE2D0"/>
            </a:solidFill>
            <a:prstDash val="solid"/>
          </a:ln>
        </p:spPr>
      </p:sp>
      <p:sp>
        <p:nvSpPr>
          <p:cNvPr id="9" name="Text 7"/>
          <p:cNvSpPr/>
          <p:nvPr/>
        </p:nvSpPr>
        <p:spPr>
          <a:xfrm>
            <a:off x="3502152" y="1508760"/>
            <a:ext cx="2240280" cy="320040"/>
          </a:xfrm>
          <a:prstGeom prst="rect">
            <a:avLst/>
          </a:prstGeom>
          <a:noFill/>
          <a:ln/>
        </p:spPr>
        <p:txBody>
          <a:bodyPr wrap="square" lIns="0" tIns="0" rIns="0" bIns="0"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Standardised</a:t>
            </a:r>
            <a:endParaRPr lang="en-US" sz="1500" dirty="0"/>
          </a:p>
        </p:txBody>
      </p:sp>
      <p:sp>
        <p:nvSpPr>
          <p:cNvPr id="10" name="Text 8"/>
          <p:cNvSpPr/>
          <p:nvPr/>
        </p:nvSpPr>
        <p:spPr>
          <a:xfrm>
            <a:off x="3502152" y="1847088"/>
            <a:ext cx="2240280" cy="777240"/>
          </a:xfrm>
          <a:prstGeom prst="rect">
            <a:avLst/>
          </a:prstGeom>
          <a:noFill/>
          <a:ln/>
        </p:spPr>
        <p:txBody>
          <a:bodyPr wrap="square" lIns="0" tIns="0" rIns="0" bIns="0" rtlCol="0" anchor="t"/>
          <a:lstStyle/>
          <a:p>
            <a:pPr indent="0" marL="0">
              <a:lnSpc>
                <a:spcPts val="1300"/>
              </a:lnSpc>
              <a:buNone/>
            </a:pPr>
            <a:r>
              <a:rPr lang="en-US" sz="1050" dirty="0">
                <a:solidFill>
                  <a:srgbClr val="2B2124"/>
                </a:solidFill>
                <a:latin typeface="Calibri" pitchFamily="34" charset="0"/>
                <a:ea typeface="Calibri" pitchFamily="34" charset="-122"/>
                <a:cs typeface="Calibri" pitchFamily="34" charset="-120"/>
              </a:rPr>
              <a:t>Mean 0, standard deviation 1, so income in tens of thousands cannot dominate a count of children.</a:t>
            </a:r>
            <a:endParaRPr lang="en-US" sz="1050" dirty="0"/>
          </a:p>
        </p:txBody>
      </p:sp>
      <p:sp>
        <p:nvSpPr>
          <p:cNvPr id="11" name="Text 9"/>
          <p:cNvSpPr/>
          <p:nvPr/>
        </p:nvSpPr>
        <p:spPr>
          <a:xfrm>
            <a:off x="5925312" y="1828800"/>
            <a:ext cx="256032" cy="365760"/>
          </a:xfrm>
          <a:prstGeom prst="rect">
            <a:avLst/>
          </a:prstGeom>
          <a:noFill/>
          <a:ln/>
        </p:spPr>
        <p:txBody>
          <a:bodyPr wrap="square" lIns="0" tIns="0" rIns="0" bIns="0" rtlCol="0" anchor="ctr"/>
          <a:lstStyle/>
          <a:p>
            <a:pPr algn="ctr" indent="0" marL="0">
              <a:buNone/>
            </a:pPr>
            <a:r>
              <a:rPr lang="en-US" sz="1800" b="1" dirty="0">
                <a:solidFill>
                  <a:srgbClr val="A26769"/>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181344" y="1371600"/>
            <a:ext cx="2587752" cy="1371600"/>
          </a:xfrm>
          <a:prstGeom prst="roundRect">
            <a:avLst>
              <a:gd name="adj" fmla="val 4000"/>
            </a:avLst>
          </a:prstGeom>
          <a:solidFill>
            <a:srgbClr val="F7F1E8"/>
          </a:solidFill>
          <a:ln w="12700">
            <a:solidFill>
              <a:srgbClr val="ECE2D0"/>
            </a:solidFill>
            <a:prstDash val="solid"/>
          </a:ln>
        </p:spPr>
      </p:sp>
      <p:sp>
        <p:nvSpPr>
          <p:cNvPr id="13" name="Text 11"/>
          <p:cNvSpPr/>
          <p:nvPr/>
        </p:nvSpPr>
        <p:spPr>
          <a:xfrm>
            <a:off x="6364224" y="1508760"/>
            <a:ext cx="2240280" cy="320040"/>
          </a:xfrm>
          <a:prstGeom prst="rect">
            <a:avLst/>
          </a:prstGeom>
          <a:noFill/>
          <a:ln/>
        </p:spPr>
        <p:txBody>
          <a:bodyPr wrap="square" lIns="0" tIns="0" rIns="0" bIns="0" rtlCol="0" anchor="ctr"/>
          <a:lstStyle/>
          <a:p>
            <a:pPr indent="0" marL="0">
              <a:buNone/>
            </a:pPr>
            <a:r>
              <a:rPr lang="en-US" sz="1500" b="1" dirty="0">
                <a:solidFill>
                  <a:srgbClr val="6D2E46"/>
                </a:solidFill>
                <a:latin typeface="Cambria" pitchFamily="34" charset="0"/>
                <a:ea typeface="Cambria" pitchFamily="34" charset="-122"/>
                <a:cs typeface="Cambria" pitchFamily="34" charset="-120"/>
              </a:rPr>
              <a:t>PCA, 3 axes</a:t>
            </a:r>
            <a:endParaRPr lang="en-US" sz="1500" dirty="0"/>
          </a:p>
        </p:txBody>
      </p:sp>
      <p:sp>
        <p:nvSpPr>
          <p:cNvPr id="14" name="Text 12"/>
          <p:cNvSpPr/>
          <p:nvPr/>
        </p:nvSpPr>
        <p:spPr>
          <a:xfrm>
            <a:off x="6364224" y="1847088"/>
            <a:ext cx="2240280" cy="777240"/>
          </a:xfrm>
          <a:prstGeom prst="rect">
            <a:avLst/>
          </a:prstGeom>
          <a:noFill/>
          <a:ln/>
        </p:spPr>
        <p:txBody>
          <a:bodyPr wrap="square" lIns="0" tIns="0" rIns="0" bIns="0" rtlCol="0" anchor="t"/>
          <a:lstStyle/>
          <a:p>
            <a:pPr indent="0" marL="0">
              <a:lnSpc>
                <a:spcPts val="1300"/>
              </a:lnSpc>
              <a:buNone/>
            </a:pPr>
            <a:r>
              <a:rPr lang="en-US" sz="1050" dirty="0">
                <a:solidFill>
                  <a:srgbClr val="2B2124"/>
                </a:solidFill>
                <a:latin typeface="Calibri" pitchFamily="34" charset="0"/>
                <a:ea typeface="Calibri" pitchFamily="34" charset="-122"/>
                <a:cs typeface="Calibri" pitchFamily="34" charset="-120"/>
              </a:rPr>
              <a:t>Projected onto three principal components: distances become more meaningful and clusters can be plotted.</a:t>
            </a:r>
            <a:endParaRPr lang="en-US" sz="1050" dirty="0"/>
          </a:p>
        </p:txBody>
      </p:sp>
      <p:sp>
        <p:nvSpPr>
          <p:cNvPr id="15" name="Shape 13"/>
          <p:cNvSpPr/>
          <p:nvPr/>
        </p:nvSpPr>
        <p:spPr>
          <a:xfrm>
            <a:off x="457200" y="3017520"/>
            <a:ext cx="8229600" cy="1417320"/>
          </a:xfrm>
          <a:prstGeom prst="roundRect">
            <a:avLst>
              <a:gd name="adj" fmla="val 3871"/>
            </a:avLst>
          </a:prstGeom>
          <a:solidFill>
            <a:srgbClr val="FFFFFF"/>
          </a:solidFill>
          <a:ln w="15875">
            <a:solidFill>
              <a:srgbClr val="6D2E46"/>
            </a:solidFill>
            <a:prstDash val="solid"/>
          </a:ln>
        </p:spPr>
      </p:sp>
      <p:sp>
        <p:nvSpPr>
          <p:cNvPr id="16" name="Text 14"/>
          <p:cNvSpPr/>
          <p:nvPr/>
        </p:nvSpPr>
        <p:spPr>
          <a:xfrm>
            <a:off x="685800" y="3154680"/>
            <a:ext cx="3657600" cy="292608"/>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Why k = 4 and not k = 2</a:t>
            </a:r>
            <a:endParaRPr lang="en-US" sz="1300" dirty="0"/>
          </a:p>
        </p:txBody>
      </p:sp>
      <p:sp>
        <p:nvSpPr>
          <p:cNvPr id="17" name="Text 15"/>
          <p:cNvSpPr/>
          <p:nvPr/>
        </p:nvSpPr>
        <p:spPr>
          <a:xfrm>
            <a:off x="685800" y="3474720"/>
            <a:ext cx="7772400" cy="868680"/>
          </a:xfrm>
          <a:prstGeom prst="rect">
            <a:avLst/>
          </a:prstGeom>
          <a:noFill/>
          <a:ln/>
        </p:spPr>
        <p:txBody>
          <a:bodyPr wrap="square" lIns="0" tIns="0" rIns="0" bIns="0" rtlCol="0" anchor="t"/>
          <a:lstStyle/>
          <a:p>
            <a:pPr indent="0" marL="0">
              <a:lnSpc>
                <a:spcPts val="1400"/>
              </a:lnSpc>
              <a:buNone/>
            </a:pPr>
            <a:r>
              <a:rPr lang="en-US" sz="1100" dirty="0">
                <a:solidFill>
                  <a:srgbClr val="2B2124"/>
                </a:solidFill>
                <a:latin typeface="Calibri" pitchFamily="34" charset="0"/>
                <a:ea typeface="Calibri" pitchFamily="34" charset="-122"/>
                <a:cs typeface="Calibri" pitchFamily="34" charset="-120"/>
              </a:rPr>
              <a:t>The silhouette score peaked at k = 2 (0.582 on Iris, and the same pattern on the customer data), while the inertia curve bent around k = 3-4. We chose k = 4 deliberately: a two-way split only says "spends a lot" versus "spends little", which no marketing team can act on. This is a stated trade-off between a geometric metric and the business question — the metric guides the decision, it does not make 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COMPARISON</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Three algorithms on the same reduced data</a:t>
            </a:r>
            <a:endParaRPr lang="en-US" sz="3000" dirty="0"/>
          </a:p>
        </p:txBody>
      </p:sp>
      <p:sp>
        <p:nvSpPr>
          <p:cNvPr id="4" name="Shape 2"/>
          <p:cNvSpPr/>
          <p:nvPr/>
        </p:nvSpPr>
        <p:spPr>
          <a:xfrm>
            <a:off x="457200" y="1371600"/>
            <a:ext cx="2529230" cy="2011680"/>
          </a:xfrm>
          <a:prstGeom prst="roundRect">
            <a:avLst>
              <a:gd name="adj" fmla="val 2727"/>
            </a:avLst>
          </a:prstGeom>
          <a:solidFill>
            <a:srgbClr val="F7F1E8"/>
          </a:solidFill>
          <a:ln w="15875">
            <a:solidFill>
              <a:srgbClr val="6D2E46"/>
            </a:solidFill>
            <a:prstDash val="solid"/>
          </a:ln>
        </p:spPr>
      </p:sp>
      <p:sp>
        <p:nvSpPr>
          <p:cNvPr id="5" name="Text 3"/>
          <p:cNvSpPr/>
          <p:nvPr/>
        </p:nvSpPr>
        <p:spPr>
          <a:xfrm>
            <a:off x="640080" y="1490472"/>
            <a:ext cx="2163470" cy="292608"/>
          </a:xfrm>
          <a:prstGeom prst="rect">
            <a:avLst/>
          </a:prstGeom>
          <a:noFill/>
          <a:ln/>
        </p:spPr>
        <p:txBody>
          <a:bodyPr wrap="square" lIns="0" tIns="0" rIns="0" bIns="0" rtlCol="0" anchor="ctr"/>
          <a:lstStyle/>
          <a:p>
            <a:pPr indent="0" marL="0">
              <a:buNone/>
            </a:pPr>
            <a:r>
              <a:rPr lang="en-US" sz="1400" b="1" dirty="0">
                <a:solidFill>
                  <a:srgbClr val="6D2E46"/>
                </a:solidFill>
                <a:latin typeface="Cambria" pitchFamily="34" charset="0"/>
                <a:ea typeface="Cambria" pitchFamily="34" charset="-122"/>
                <a:cs typeface="Cambria" pitchFamily="34" charset="-120"/>
              </a:rPr>
              <a:t>Our K-means</a:t>
            </a:r>
            <a:endParaRPr lang="en-US" sz="1400" dirty="0"/>
          </a:p>
        </p:txBody>
      </p:sp>
      <p:sp>
        <p:nvSpPr>
          <p:cNvPr id="6" name="Text 4"/>
          <p:cNvSpPr/>
          <p:nvPr/>
        </p:nvSpPr>
        <p:spPr>
          <a:xfrm>
            <a:off x="640080" y="1828800"/>
            <a:ext cx="1005840" cy="201168"/>
          </a:xfrm>
          <a:prstGeom prst="rect">
            <a:avLst/>
          </a:prstGeom>
          <a:noFill/>
          <a:ln/>
        </p:spPr>
        <p:txBody>
          <a:bodyPr wrap="square" lIns="0" tIns="0" rIns="0" bIns="0" rtlCol="0" anchor="ctr"/>
          <a:lstStyle/>
          <a:p>
            <a:pPr indent="0" marL="0">
              <a:buNone/>
            </a:pPr>
            <a:r>
              <a:rPr lang="en-US" sz="900" dirty="0">
                <a:solidFill>
                  <a:srgbClr val="6E5F62"/>
                </a:solidFill>
                <a:latin typeface="Calibri" pitchFamily="34" charset="0"/>
                <a:ea typeface="Calibri" pitchFamily="34" charset="-122"/>
                <a:cs typeface="Calibri" pitchFamily="34" charset="-120"/>
              </a:rPr>
              <a:t>Silhouette</a:t>
            </a:r>
            <a:endParaRPr lang="en-US" sz="900" dirty="0"/>
          </a:p>
        </p:txBody>
      </p:sp>
      <p:sp>
        <p:nvSpPr>
          <p:cNvPr id="7" name="Text 5"/>
          <p:cNvSpPr/>
          <p:nvPr/>
        </p:nvSpPr>
        <p:spPr>
          <a:xfrm>
            <a:off x="640080" y="2011680"/>
            <a:ext cx="1005840" cy="365760"/>
          </a:xfrm>
          <a:prstGeom prst="rect">
            <a:avLst/>
          </a:prstGeom>
          <a:noFill/>
          <a:ln/>
        </p:spPr>
        <p:txBody>
          <a:bodyPr wrap="square" lIns="0" tIns="0" rIns="0" bIns="0" rtlCol="0" anchor="ctr"/>
          <a:lstStyle/>
          <a:p>
            <a:pPr indent="0" marL="0">
              <a:buNone/>
            </a:pPr>
            <a:r>
              <a:rPr lang="en-US" sz="2100" b="1" dirty="0">
                <a:solidFill>
                  <a:srgbClr val="6D2E46"/>
                </a:solidFill>
                <a:latin typeface="Cambria" pitchFamily="34" charset="0"/>
                <a:ea typeface="Cambria" pitchFamily="34" charset="-122"/>
                <a:cs typeface="Cambria" pitchFamily="34" charset="-120"/>
              </a:rPr>
              <a:t>0.316</a:t>
            </a:r>
            <a:endParaRPr lang="en-US" sz="2100" dirty="0"/>
          </a:p>
        </p:txBody>
      </p:sp>
      <p:sp>
        <p:nvSpPr>
          <p:cNvPr id="8" name="Text 6"/>
          <p:cNvSpPr/>
          <p:nvPr/>
        </p:nvSpPr>
        <p:spPr>
          <a:xfrm>
            <a:off x="1783080" y="1828800"/>
            <a:ext cx="1051560" cy="201168"/>
          </a:xfrm>
          <a:prstGeom prst="rect">
            <a:avLst/>
          </a:prstGeom>
          <a:noFill/>
          <a:ln/>
        </p:spPr>
        <p:txBody>
          <a:bodyPr wrap="square" lIns="0" tIns="0" rIns="0" bIns="0" rtlCol="0" anchor="ctr"/>
          <a:lstStyle/>
          <a:p>
            <a:pPr indent="0" marL="0">
              <a:buNone/>
            </a:pPr>
            <a:r>
              <a:rPr lang="en-US" sz="900" dirty="0">
                <a:solidFill>
                  <a:srgbClr val="6E5F62"/>
                </a:solidFill>
                <a:latin typeface="Calibri" pitchFamily="34" charset="0"/>
                <a:ea typeface="Calibri" pitchFamily="34" charset="-122"/>
                <a:cs typeface="Calibri" pitchFamily="34" charset="-120"/>
              </a:rPr>
              <a:t>Davies-Bouldin</a:t>
            </a:r>
            <a:endParaRPr lang="en-US" sz="900" dirty="0"/>
          </a:p>
        </p:txBody>
      </p:sp>
      <p:sp>
        <p:nvSpPr>
          <p:cNvPr id="9" name="Text 7"/>
          <p:cNvSpPr/>
          <p:nvPr/>
        </p:nvSpPr>
        <p:spPr>
          <a:xfrm>
            <a:off x="1783080" y="2011680"/>
            <a:ext cx="1051560" cy="365760"/>
          </a:xfrm>
          <a:prstGeom prst="rect">
            <a:avLst/>
          </a:prstGeom>
          <a:noFill/>
          <a:ln/>
        </p:spPr>
        <p:txBody>
          <a:bodyPr wrap="square" lIns="0" tIns="0" rIns="0" bIns="0" rtlCol="0" anchor="ctr"/>
          <a:lstStyle/>
          <a:p>
            <a:pPr indent="0" marL="0">
              <a:buNone/>
            </a:pPr>
            <a:r>
              <a:rPr lang="en-US" sz="2100" b="1" dirty="0">
                <a:solidFill>
                  <a:srgbClr val="6E5F62"/>
                </a:solidFill>
                <a:latin typeface="Cambria" pitchFamily="34" charset="0"/>
                <a:ea typeface="Cambria" pitchFamily="34" charset="-122"/>
                <a:cs typeface="Cambria" pitchFamily="34" charset="-120"/>
              </a:rPr>
              <a:t>1.111</a:t>
            </a:r>
            <a:endParaRPr lang="en-US" sz="2100" dirty="0"/>
          </a:p>
        </p:txBody>
      </p:sp>
      <p:sp>
        <p:nvSpPr>
          <p:cNvPr id="10" name="Text 8"/>
          <p:cNvSpPr/>
          <p:nvPr/>
        </p:nvSpPr>
        <p:spPr>
          <a:xfrm>
            <a:off x="640080" y="2432304"/>
            <a:ext cx="2163470" cy="237744"/>
          </a:xfrm>
          <a:prstGeom prst="rect">
            <a:avLst/>
          </a:prstGeom>
          <a:noFill/>
          <a:ln/>
        </p:spPr>
        <p:txBody>
          <a:bodyPr wrap="square" lIns="0" tIns="0" rIns="0" bIns="0" rtlCol="0" anchor="ctr"/>
          <a:lstStyle/>
          <a:p>
            <a:pPr indent="0" marL="0">
              <a:buNone/>
            </a:pPr>
            <a:r>
              <a:rPr lang="en-US" sz="950" dirty="0">
                <a:solidFill>
                  <a:srgbClr val="2B2124"/>
                </a:solidFill>
                <a:latin typeface="Courier New" pitchFamily="34" charset="0"/>
                <a:ea typeface="Courier New" pitchFamily="34" charset="-122"/>
                <a:cs typeface="Courier New" pitchFamily="34" charset="-120"/>
              </a:rPr>
              <a:t>511 / 613 / 601 / 487</a:t>
            </a:r>
            <a:endParaRPr lang="en-US" sz="950" dirty="0"/>
          </a:p>
        </p:txBody>
      </p:sp>
      <p:sp>
        <p:nvSpPr>
          <p:cNvPr id="11" name="Text 9"/>
          <p:cNvSpPr/>
          <p:nvPr/>
        </p:nvSpPr>
        <p:spPr>
          <a:xfrm>
            <a:off x="640080" y="2706624"/>
            <a:ext cx="2163470" cy="594360"/>
          </a:xfrm>
          <a:prstGeom prst="rect">
            <a:avLst/>
          </a:prstGeom>
          <a:noFill/>
          <a:ln/>
        </p:spPr>
        <p:txBody>
          <a:bodyPr wrap="square" lIns="0" tIns="0" rIns="0" bIns="0" rtlCol="0" anchor="t"/>
          <a:lstStyle/>
          <a:p>
            <a:pPr indent="0" marL="0">
              <a:lnSpc>
                <a:spcPts val="1200"/>
              </a:lnSpc>
              <a:buNone/>
            </a:pPr>
            <a:r>
              <a:rPr lang="en-US" sz="1000" dirty="0">
                <a:solidFill>
                  <a:srgbClr val="2B2124"/>
                </a:solidFill>
                <a:latin typeface="Calibri" pitchFamily="34" charset="0"/>
                <a:ea typeface="Calibri" pitchFamily="34" charset="-122"/>
                <a:cs typeface="Calibri" pitchFamily="34" charset="-120"/>
              </a:rPr>
              <a:t>Best silhouette, balanced segments, most interpretable.</a:t>
            </a:r>
            <a:endParaRPr lang="en-US" sz="1000" dirty="0"/>
          </a:p>
        </p:txBody>
      </p:sp>
      <p:sp>
        <p:nvSpPr>
          <p:cNvPr id="12" name="Shape 10"/>
          <p:cNvSpPr/>
          <p:nvPr/>
        </p:nvSpPr>
        <p:spPr>
          <a:xfrm>
            <a:off x="3306470" y="1371600"/>
            <a:ext cx="2529230" cy="2011680"/>
          </a:xfrm>
          <a:prstGeom prst="roundRect">
            <a:avLst>
              <a:gd name="adj" fmla="val 2727"/>
            </a:avLst>
          </a:prstGeom>
          <a:solidFill>
            <a:srgbClr val="FFFFFF"/>
          </a:solidFill>
          <a:ln w="12700">
            <a:solidFill>
              <a:srgbClr val="ECE2D0"/>
            </a:solidFill>
            <a:prstDash val="solid"/>
          </a:ln>
        </p:spPr>
      </p:sp>
      <p:sp>
        <p:nvSpPr>
          <p:cNvPr id="13" name="Text 11"/>
          <p:cNvSpPr/>
          <p:nvPr/>
        </p:nvSpPr>
        <p:spPr>
          <a:xfrm>
            <a:off x="3489350" y="1490472"/>
            <a:ext cx="2163470" cy="292608"/>
          </a:xfrm>
          <a:prstGeom prst="rect">
            <a:avLst/>
          </a:prstGeom>
          <a:noFill/>
          <a:ln/>
        </p:spPr>
        <p:txBody>
          <a:bodyPr wrap="square" lIns="0" tIns="0" rIns="0" bIns="0" rtlCol="0" anchor="ctr"/>
          <a:lstStyle/>
          <a:p>
            <a:pPr indent="0" marL="0">
              <a:buNone/>
            </a:pPr>
            <a:r>
              <a:rPr lang="en-US" sz="1400" b="1" dirty="0">
                <a:solidFill>
                  <a:srgbClr val="6D2E46"/>
                </a:solidFill>
                <a:latin typeface="Cambria" pitchFamily="34" charset="0"/>
                <a:ea typeface="Cambria" pitchFamily="34" charset="-122"/>
                <a:cs typeface="Cambria" pitchFamily="34" charset="-120"/>
              </a:rPr>
              <a:t>CAH (Ward)</a:t>
            </a:r>
            <a:endParaRPr lang="en-US" sz="1400" dirty="0"/>
          </a:p>
        </p:txBody>
      </p:sp>
      <p:sp>
        <p:nvSpPr>
          <p:cNvPr id="14" name="Text 12"/>
          <p:cNvSpPr/>
          <p:nvPr/>
        </p:nvSpPr>
        <p:spPr>
          <a:xfrm>
            <a:off x="3489350" y="1828800"/>
            <a:ext cx="1005840" cy="201168"/>
          </a:xfrm>
          <a:prstGeom prst="rect">
            <a:avLst/>
          </a:prstGeom>
          <a:noFill/>
          <a:ln/>
        </p:spPr>
        <p:txBody>
          <a:bodyPr wrap="square" lIns="0" tIns="0" rIns="0" bIns="0" rtlCol="0" anchor="ctr"/>
          <a:lstStyle/>
          <a:p>
            <a:pPr indent="0" marL="0">
              <a:buNone/>
            </a:pPr>
            <a:r>
              <a:rPr lang="en-US" sz="900" dirty="0">
                <a:solidFill>
                  <a:srgbClr val="6E5F62"/>
                </a:solidFill>
                <a:latin typeface="Calibri" pitchFamily="34" charset="0"/>
                <a:ea typeface="Calibri" pitchFamily="34" charset="-122"/>
                <a:cs typeface="Calibri" pitchFamily="34" charset="-120"/>
              </a:rPr>
              <a:t>Silhouette</a:t>
            </a:r>
            <a:endParaRPr lang="en-US" sz="900" dirty="0"/>
          </a:p>
        </p:txBody>
      </p:sp>
      <p:sp>
        <p:nvSpPr>
          <p:cNvPr id="15" name="Text 13"/>
          <p:cNvSpPr/>
          <p:nvPr/>
        </p:nvSpPr>
        <p:spPr>
          <a:xfrm>
            <a:off x="3489350" y="2011680"/>
            <a:ext cx="1005840" cy="365760"/>
          </a:xfrm>
          <a:prstGeom prst="rect">
            <a:avLst/>
          </a:prstGeom>
          <a:noFill/>
          <a:ln/>
        </p:spPr>
        <p:txBody>
          <a:bodyPr wrap="square" lIns="0" tIns="0" rIns="0" bIns="0" rtlCol="0" anchor="ctr"/>
          <a:lstStyle/>
          <a:p>
            <a:pPr indent="0" marL="0">
              <a:buNone/>
            </a:pPr>
            <a:r>
              <a:rPr lang="en-US" sz="2100" b="1" dirty="0">
                <a:solidFill>
                  <a:srgbClr val="A26769"/>
                </a:solidFill>
                <a:latin typeface="Cambria" pitchFamily="34" charset="0"/>
                <a:ea typeface="Cambria" pitchFamily="34" charset="-122"/>
                <a:cs typeface="Cambria" pitchFamily="34" charset="-120"/>
              </a:rPr>
              <a:t>0.266</a:t>
            </a:r>
            <a:endParaRPr lang="en-US" sz="2100" dirty="0"/>
          </a:p>
        </p:txBody>
      </p:sp>
      <p:sp>
        <p:nvSpPr>
          <p:cNvPr id="16" name="Text 14"/>
          <p:cNvSpPr/>
          <p:nvPr/>
        </p:nvSpPr>
        <p:spPr>
          <a:xfrm>
            <a:off x="4632350" y="1828800"/>
            <a:ext cx="1051560" cy="201168"/>
          </a:xfrm>
          <a:prstGeom prst="rect">
            <a:avLst/>
          </a:prstGeom>
          <a:noFill/>
          <a:ln/>
        </p:spPr>
        <p:txBody>
          <a:bodyPr wrap="square" lIns="0" tIns="0" rIns="0" bIns="0" rtlCol="0" anchor="ctr"/>
          <a:lstStyle/>
          <a:p>
            <a:pPr indent="0" marL="0">
              <a:buNone/>
            </a:pPr>
            <a:r>
              <a:rPr lang="en-US" sz="900" dirty="0">
                <a:solidFill>
                  <a:srgbClr val="6E5F62"/>
                </a:solidFill>
                <a:latin typeface="Calibri" pitchFamily="34" charset="0"/>
                <a:ea typeface="Calibri" pitchFamily="34" charset="-122"/>
                <a:cs typeface="Calibri" pitchFamily="34" charset="-120"/>
              </a:rPr>
              <a:t>Davies-Bouldin</a:t>
            </a:r>
            <a:endParaRPr lang="en-US" sz="900" dirty="0"/>
          </a:p>
        </p:txBody>
      </p:sp>
      <p:sp>
        <p:nvSpPr>
          <p:cNvPr id="17" name="Text 15"/>
          <p:cNvSpPr/>
          <p:nvPr/>
        </p:nvSpPr>
        <p:spPr>
          <a:xfrm>
            <a:off x="4632350" y="2011680"/>
            <a:ext cx="1051560" cy="365760"/>
          </a:xfrm>
          <a:prstGeom prst="rect">
            <a:avLst/>
          </a:prstGeom>
          <a:noFill/>
          <a:ln/>
        </p:spPr>
        <p:txBody>
          <a:bodyPr wrap="square" lIns="0" tIns="0" rIns="0" bIns="0" rtlCol="0" anchor="ctr"/>
          <a:lstStyle/>
          <a:p>
            <a:pPr indent="0" marL="0">
              <a:buNone/>
            </a:pPr>
            <a:r>
              <a:rPr lang="en-US" sz="2100" b="1" dirty="0">
                <a:solidFill>
                  <a:srgbClr val="6E5F62"/>
                </a:solidFill>
                <a:latin typeface="Cambria" pitchFamily="34" charset="0"/>
                <a:ea typeface="Cambria" pitchFamily="34" charset="-122"/>
                <a:cs typeface="Cambria" pitchFamily="34" charset="-120"/>
              </a:rPr>
              <a:t>1.269</a:t>
            </a:r>
            <a:endParaRPr lang="en-US" sz="2100" dirty="0"/>
          </a:p>
        </p:txBody>
      </p:sp>
      <p:sp>
        <p:nvSpPr>
          <p:cNvPr id="18" name="Text 16"/>
          <p:cNvSpPr/>
          <p:nvPr/>
        </p:nvSpPr>
        <p:spPr>
          <a:xfrm>
            <a:off x="3489350" y="2432304"/>
            <a:ext cx="2163470" cy="237744"/>
          </a:xfrm>
          <a:prstGeom prst="rect">
            <a:avLst/>
          </a:prstGeom>
          <a:noFill/>
          <a:ln/>
        </p:spPr>
        <p:txBody>
          <a:bodyPr wrap="square" lIns="0" tIns="0" rIns="0" bIns="0" rtlCol="0" anchor="ctr"/>
          <a:lstStyle/>
          <a:p>
            <a:pPr indent="0" marL="0">
              <a:buNone/>
            </a:pPr>
            <a:r>
              <a:rPr lang="en-US" sz="950" dirty="0">
                <a:solidFill>
                  <a:srgbClr val="2B2124"/>
                </a:solidFill>
                <a:latin typeface="Courier New" pitchFamily="34" charset="0"/>
                <a:ea typeface="Courier New" pitchFamily="34" charset="-122"/>
                <a:cs typeface="Courier New" pitchFamily="34" charset="-120"/>
              </a:rPr>
              <a:t>no noise, 4 clusters</a:t>
            </a:r>
            <a:endParaRPr lang="en-US" sz="950" dirty="0"/>
          </a:p>
        </p:txBody>
      </p:sp>
      <p:sp>
        <p:nvSpPr>
          <p:cNvPr id="19" name="Text 17"/>
          <p:cNvSpPr/>
          <p:nvPr/>
        </p:nvSpPr>
        <p:spPr>
          <a:xfrm>
            <a:off x="3489350" y="2706624"/>
            <a:ext cx="2163470" cy="594360"/>
          </a:xfrm>
          <a:prstGeom prst="rect">
            <a:avLst/>
          </a:prstGeom>
          <a:noFill/>
          <a:ln/>
        </p:spPr>
        <p:txBody>
          <a:bodyPr wrap="square" lIns="0" tIns="0" rIns="0" bIns="0" rtlCol="0" anchor="t"/>
          <a:lstStyle/>
          <a:p>
            <a:pPr indent="0" marL="0">
              <a:lnSpc>
                <a:spcPts val="1200"/>
              </a:lnSpc>
              <a:buNone/>
            </a:pPr>
            <a:r>
              <a:rPr lang="en-US" sz="1000" dirty="0">
                <a:solidFill>
                  <a:srgbClr val="2B2124"/>
                </a:solidFill>
                <a:latin typeface="Calibri" pitchFamily="34" charset="0"/>
                <a:ea typeface="Calibri" pitchFamily="34" charset="-122"/>
                <a:cs typeface="Calibri" pitchFamily="34" charset="-120"/>
              </a:rPr>
              <a:t>A very similar partition — two methods agreeing is good evidence.</a:t>
            </a:r>
            <a:endParaRPr lang="en-US" sz="1000" dirty="0"/>
          </a:p>
        </p:txBody>
      </p:sp>
      <p:sp>
        <p:nvSpPr>
          <p:cNvPr id="20" name="Shape 18"/>
          <p:cNvSpPr/>
          <p:nvPr/>
        </p:nvSpPr>
        <p:spPr>
          <a:xfrm>
            <a:off x="6155741" y="1371600"/>
            <a:ext cx="2529230" cy="2011680"/>
          </a:xfrm>
          <a:prstGeom prst="roundRect">
            <a:avLst>
              <a:gd name="adj" fmla="val 2727"/>
            </a:avLst>
          </a:prstGeom>
          <a:solidFill>
            <a:srgbClr val="FFFFFF"/>
          </a:solidFill>
          <a:ln w="12700">
            <a:solidFill>
              <a:srgbClr val="ECE2D0"/>
            </a:solidFill>
            <a:prstDash val="solid"/>
          </a:ln>
        </p:spPr>
      </p:sp>
      <p:sp>
        <p:nvSpPr>
          <p:cNvPr id="21" name="Text 19"/>
          <p:cNvSpPr/>
          <p:nvPr/>
        </p:nvSpPr>
        <p:spPr>
          <a:xfrm>
            <a:off x="6338621" y="1490472"/>
            <a:ext cx="2163470" cy="292608"/>
          </a:xfrm>
          <a:prstGeom prst="rect">
            <a:avLst/>
          </a:prstGeom>
          <a:noFill/>
          <a:ln/>
        </p:spPr>
        <p:txBody>
          <a:bodyPr wrap="square" lIns="0" tIns="0" rIns="0" bIns="0" rtlCol="0" anchor="ctr"/>
          <a:lstStyle/>
          <a:p>
            <a:pPr indent="0" marL="0">
              <a:buNone/>
            </a:pPr>
            <a:r>
              <a:rPr lang="en-US" sz="1400" b="1" dirty="0">
                <a:solidFill>
                  <a:srgbClr val="6D2E46"/>
                </a:solidFill>
                <a:latin typeface="Cambria" pitchFamily="34" charset="0"/>
                <a:ea typeface="Cambria" pitchFamily="34" charset="-122"/>
                <a:cs typeface="Cambria" pitchFamily="34" charset="-120"/>
              </a:rPr>
              <a:t>DBSCAN</a:t>
            </a:r>
            <a:endParaRPr lang="en-US" sz="1400" dirty="0"/>
          </a:p>
        </p:txBody>
      </p:sp>
      <p:sp>
        <p:nvSpPr>
          <p:cNvPr id="22" name="Text 20"/>
          <p:cNvSpPr/>
          <p:nvPr/>
        </p:nvSpPr>
        <p:spPr>
          <a:xfrm>
            <a:off x="6338621" y="1828800"/>
            <a:ext cx="1005840" cy="201168"/>
          </a:xfrm>
          <a:prstGeom prst="rect">
            <a:avLst/>
          </a:prstGeom>
          <a:noFill/>
          <a:ln/>
        </p:spPr>
        <p:txBody>
          <a:bodyPr wrap="square" lIns="0" tIns="0" rIns="0" bIns="0" rtlCol="0" anchor="ctr"/>
          <a:lstStyle/>
          <a:p>
            <a:pPr indent="0" marL="0">
              <a:buNone/>
            </a:pPr>
            <a:r>
              <a:rPr lang="en-US" sz="900" dirty="0">
                <a:solidFill>
                  <a:srgbClr val="6E5F62"/>
                </a:solidFill>
                <a:latin typeface="Calibri" pitchFamily="34" charset="0"/>
                <a:ea typeface="Calibri" pitchFamily="34" charset="-122"/>
                <a:cs typeface="Calibri" pitchFamily="34" charset="-120"/>
              </a:rPr>
              <a:t>Silhouette</a:t>
            </a:r>
            <a:endParaRPr lang="en-US" sz="900" dirty="0"/>
          </a:p>
        </p:txBody>
      </p:sp>
      <p:sp>
        <p:nvSpPr>
          <p:cNvPr id="23" name="Text 21"/>
          <p:cNvSpPr/>
          <p:nvPr/>
        </p:nvSpPr>
        <p:spPr>
          <a:xfrm>
            <a:off x="6338621" y="2011680"/>
            <a:ext cx="1005840" cy="365760"/>
          </a:xfrm>
          <a:prstGeom prst="rect">
            <a:avLst/>
          </a:prstGeom>
          <a:noFill/>
          <a:ln/>
        </p:spPr>
        <p:txBody>
          <a:bodyPr wrap="square" lIns="0" tIns="0" rIns="0" bIns="0" rtlCol="0" anchor="ctr"/>
          <a:lstStyle/>
          <a:p>
            <a:pPr indent="0" marL="0">
              <a:buNone/>
            </a:pPr>
            <a:r>
              <a:rPr lang="en-US" sz="2100" b="1" dirty="0">
                <a:solidFill>
                  <a:srgbClr val="A26769"/>
                </a:solidFill>
                <a:latin typeface="Cambria" pitchFamily="34" charset="0"/>
                <a:ea typeface="Cambria" pitchFamily="34" charset="-122"/>
                <a:cs typeface="Cambria" pitchFamily="34" charset="-120"/>
              </a:rPr>
              <a:t>0.137</a:t>
            </a:r>
            <a:endParaRPr lang="en-US" sz="2100" dirty="0"/>
          </a:p>
        </p:txBody>
      </p:sp>
      <p:sp>
        <p:nvSpPr>
          <p:cNvPr id="24" name="Text 22"/>
          <p:cNvSpPr/>
          <p:nvPr/>
        </p:nvSpPr>
        <p:spPr>
          <a:xfrm>
            <a:off x="7481621" y="1828800"/>
            <a:ext cx="1051560" cy="201168"/>
          </a:xfrm>
          <a:prstGeom prst="rect">
            <a:avLst/>
          </a:prstGeom>
          <a:noFill/>
          <a:ln/>
        </p:spPr>
        <p:txBody>
          <a:bodyPr wrap="square" lIns="0" tIns="0" rIns="0" bIns="0" rtlCol="0" anchor="ctr"/>
          <a:lstStyle/>
          <a:p>
            <a:pPr indent="0" marL="0">
              <a:buNone/>
            </a:pPr>
            <a:r>
              <a:rPr lang="en-US" sz="900" dirty="0">
                <a:solidFill>
                  <a:srgbClr val="6E5F62"/>
                </a:solidFill>
                <a:latin typeface="Calibri" pitchFamily="34" charset="0"/>
                <a:ea typeface="Calibri" pitchFamily="34" charset="-122"/>
                <a:cs typeface="Calibri" pitchFamily="34" charset="-120"/>
              </a:rPr>
              <a:t>Davies-Bouldin</a:t>
            </a:r>
            <a:endParaRPr lang="en-US" sz="900" dirty="0"/>
          </a:p>
        </p:txBody>
      </p:sp>
      <p:sp>
        <p:nvSpPr>
          <p:cNvPr id="25" name="Text 23"/>
          <p:cNvSpPr/>
          <p:nvPr/>
        </p:nvSpPr>
        <p:spPr>
          <a:xfrm>
            <a:off x="7481621" y="2011680"/>
            <a:ext cx="1051560" cy="365760"/>
          </a:xfrm>
          <a:prstGeom prst="rect">
            <a:avLst/>
          </a:prstGeom>
          <a:noFill/>
          <a:ln/>
        </p:spPr>
        <p:txBody>
          <a:bodyPr wrap="square" lIns="0" tIns="0" rIns="0" bIns="0" rtlCol="0" anchor="ctr"/>
          <a:lstStyle/>
          <a:p>
            <a:pPr indent="0" marL="0">
              <a:buNone/>
            </a:pPr>
            <a:r>
              <a:rPr lang="en-US" sz="2100" b="1" dirty="0">
                <a:solidFill>
                  <a:srgbClr val="6E5F62"/>
                </a:solidFill>
                <a:latin typeface="Cambria" pitchFamily="34" charset="0"/>
                <a:ea typeface="Cambria" pitchFamily="34" charset="-122"/>
                <a:cs typeface="Cambria" pitchFamily="34" charset="-120"/>
              </a:rPr>
              <a:t>0.645</a:t>
            </a:r>
            <a:endParaRPr lang="en-US" sz="2100" dirty="0"/>
          </a:p>
        </p:txBody>
      </p:sp>
      <p:sp>
        <p:nvSpPr>
          <p:cNvPr id="26" name="Text 24"/>
          <p:cNvSpPr/>
          <p:nvPr/>
        </p:nvSpPr>
        <p:spPr>
          <a:xfrm>
            <a:off x="6338621" y="2432304"/>
            <a:ext cx="2163470" cy="237744"/>
          </a:xfrm>
          <a:prstGeom prst="rect">
            <a:avLst/>
          </a:prstGeom>
          <a:noFill/>
          <a:ln/>
        </p:spPr>
        <p:txBody>
          <a:bodyPr wrap="square" lIns="0" tIns="0" rIns="0" bIns="0" rtlCol="0" anchor="ctr"/>
          <a:lstStyle/>
          <a:p>
            <a:pPr indent="0" marL="0">
              <a:buNone/>
            </a:pPr>
            <a:r>
              <a:rPr lang="en-US" sz="950" dirty="0">
                <a:solidFill>
                  <a:srgbClr val="2B2124"/>
                </a:solidFill>
                <a:latin typeface="Courier New" pitchFamily="34" charset="0"/>
                <a:ea typeface="Courier New" pitchFamily="34" charset="-122"/>
                <a:cs typeface="Courier New" pitchFamily="34" charset="-120"/>
              </a:rPr>
              <a:t>2096 / 15 / 9 / 6</a:t>
            </a:r>
            <a:endParaRPr lang="en-US" sz="950" dirty="0"/>
          </a:p>
        </p:txBody>
      </p:sp>
      <p:sp>
        <p:nvSpPr>
          <p:cNvPr id="27" name="Text 25"/>
          <p:cNvSpPr/>
          <p:nvPr/>
        </p:nvSpPr>
        <p:spPr>
          <a:xfrm>
            <a:off x="6338621" y="2706624"/>
            <a:ext cx="2163470" cy="594360"/>
          </a:xfrm>
          <a:prstGeom prst="rect">
            <a:avLst/>
          </a:prstGeom>
          <a:noFill/>
          <a:ln/>
        </p:spPr>
        <p:txBody>
          <a:bodyPr wrap="square" lIns="0" tIns="0" rIns="0" bIns="0" rtlCol="0" anchor="t"/>
          <a:lstStyle/>
          <a:p>
            <a:pPr indent="0" marL="0">
              <a:lnSpc>
                <a:spcPts val="1200"/>
              </a:lnSpc>
              <a:buNone/>
            </a:pPr>
            <a:r>
              <a:rPr lang="en-US" sz="1000" dirty="0">
                <a:solidFill>
                  <a:srgbClr val="2B2124"/>
                </a:solidFill>
                <a:latin typeface="Calibri" pitchFamily="34" charset="0"/>
                <a:ea typeface="Calibri" pitchFamily="34" charset="-122"/>
                <a:cs typeface="Calibri" pitchFamily="34" charset="-120"/>
              </a:rPr>
              <a:t>Four clusters in name only: one mass plus three specks, 86 noise points.</a:t>
            </a:r>
            <a:endParaRPr lang="en-US" sz="1000" dirty="0"/>
          </a:p>
        </p:txBody>
      </p:sp>
      <p:sp>
        <p:nvSpPr>
          <p:cNvPr id="28" name="Shape 26"/>
          <p:cNvSpPr/>
          <p:nvPr/>
        </p:nvSpPr>
        <p:spPr>
          <a:xfrm>
            <a:off x="457200" y="3611880"/>
            <a:ext cx="8229600" cy="868680"/>
          </a:xfrm>
          <a:prstGeom prst="roundRect">
            <a:avLst>
              <a:gd name="adj" fmla="val 6316"/>
            </a:avLst>
          </a:prstGeom>
          <a:solidFill>
            <a:srgbClr val="4A1F30"/>
          </a:solidFill>
          <a:ln w="12700">
            <a:solidFill>
              <a:srgbClr val="4A1F30"/>
            </a:solidFill>
            <a:prstDash val="solid"/>
          </a:ln>
        </p:spPr>
      </p:sp>
      <p:sp>
        <p:nvSpPr>
          <p:cNvPr id="29" name="Text 27"/>
          <p:cNvSpPr/>
          <p:nvPr/>
        </p:nvSpPr>
        <p:spPr>
          <a:xfrm>
            <a:off x="685800" y="3703320"/>
            <a:ext cx="7772400" cy="256032"/>
          </a:xfrm>
          <a:prstGeom prst="rect">
            <a:avLst/>
          </a:prstGeom>
          <a:noFill/>
          <a:ln/>
        </p:spPr>
        <p:txBody>
          <a:bodyPr wrap="square" lIns="0" tIns="0" rIns="0" bIns="0" rtlCol="0" anchor="ctr"/>
          <a:lstStyle/>
          <a:p>
            <a:pPr indent="0" marL="0">
              <a:buNone/>
            </a:pPr>
            <a:r>
              <a:rPr lang="en-US" sz="1200" b="1" dirty="0">
                <a:solidFill>
                  <a:srgbClr val="C08A2E"/>
                </a:solidFill>
                <a:latin typeface="Calibri" pitchFamily="34" charset="0"/>
                <a:ea typeface="Calibri" pitchFamily="34" charset="-122"/>
                <a:cs typeface="Calibri" pitchFamily="34" charset="-120"/>
              </a:rPr>
              <a:t>The metric trap: DBSCAN has the best Davies-Bouldin index and the worst result.</a:t>
            </a:r>
            <a:endParaRPr lang="en-US" sz="1200" dirty="0"/>
          </a:p>
        </p:txBody>
      </p:sp>
      <p:sp>
        <p:nvSpPr>
          <p:cNvPr id="30" name="Text 28"/>
          <p:cNvSpPr/>
          <p:nvPr/>
        </p:nvSpPr>
        <p:spPr>
          <a:xfrm>
            <a:off x="685800" y="3977640"/>
            <a:ext cx="7772400" cy="457200"/>
          </a:xfrm>
          <a:prstGeom prst="rect">
            <a:avLst/>
          </a:prstGeom>
          <a:noFill/>
          <a:ln/>
        </p:spPr>
        <p:txBody>
          <a:bodyPr wrap="square" lIns="0" tIns="0" rIns="0" bIns="0" rtlCol="0" anchor="t"/>
          <a:lstStyle/>
          <a:p>
            <a:pPr indent="0" marL="0">
              <a:lnSpc>
                <a:spcPts val="1200"/>
              </a:lnSpc>
              <a:buNone/>
            </a:pPr>
            <a:r>
              <a:rPr lang="en-US" sz="1000" dirty="0">
                <a:solidFill>
                  <a:srgbClr val="ECE2D0"/>
                </a:solidFill>
                <a:latin typeface="Calibri" pitchFamily="34" charset="0"/>
                <a:ea typeface="Calibri" pitchFamily="34" charset="-122"/>
                <a:cs typeface="Calibri" pitchFamily="34" charset="-120"/>
              </a:rPr>
              <a:t>A single dominant cluster is trivially compact, so the index looks excellent. Density-based clustering needs empty space between groups, and customer data is a continuum — income, age and spending vary smoothly with no gaps. Not a failure of DBSCAN, but information about the shape of the data.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1F30"/>
        </a:solidFill>
      </p:bgPr>
    </p:bg>
    <p:spTree>
      <p:nvGrpSpPr>
        <p:cNvPr id="1" name=""/>
        <p:cNvGrpSpPr/>
        <p:nvPr/>
      </p:nvGrpSpPr>
      <p:grpSpPr>
        <a:xfrm>
          <a:off x="0" y="0"/>
          <a:ext cx="0" cy="0"/>
          <a:chOff x="0" y="0"/>
          <a:chExt cx="0" cy="0"/>
        </a:xfrm>
      </p:grpSpPr>
      <p:sp>
        <p:nvSpPr>
          <p:cNvPr id="2" name="Text 0"/>
          <p:cNvSpPr/>
          <p:nvPr/>
        </p:nvSpPr>
        <p:spPr>
          <a:xfrm>
            <a:off x="457200" y="292608"/>
            <a:ext cx="8229600" cy="256032"/>
          </a:xfrm>
          <a:prstGeom prst="rect">
            <a:avLst/>
          </a:prstGeom>
          <a:noFill/>
          <a:ln/>
        </p:spPr>
        <p:txBody>
          <a:bodyPr wrap="square" lIns="0" tIns="0" rIns="0" bIns="0" rtlCol="0" anchor="ctr"/>
          <a:lstStyle/>
          <a:p>
            <a:pPr indent="0" marL="0">
              <a:buNone/>
            </a:pPr>
            <a:r>
              <a:rPr lang="en-US" sz="1100" b="1" spc="150" kern="0" dirty="0">
                <a:solidFill>
                  <a:srgbClr val="C08A2E"/>
                </a:solidFill>
                <a:latin typeface="Calibri" pitchFamily="34" charset="0"/>
                <a:ea typeface="Calibri" pitchFamily="34" charset="-122"/>
                <a:cs typeface="Calibri" pitchFamily="34" charset="-120"/>
              </a:rPr>
              <a:t>THE ANSWER</a:t>
            </a:r>
            <a:endParaRPr lang="en-US" sz="110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segments, four different campaigns</a:t>
            </a:r>
            <a:endParaRPr lang="en-US" sz="3000" dirty="0"/>
          </a:p>
        </p:txBody>
      </p:sp>
      <p:sp>
        <p:nvSpPr>
          <p:cNvPr id="4" name="Shape 2"/>
          <p:cNvSpPr/>
          <p:nvPr/>
        </p:nvSpPr>
        <p:spPr>
          <a:xfrm>
            <a:off x="457200" y="1325880"/>
            <a:ext cx="1883664" cy="2514600"/>
          </a:xfrm>
          <a:prstGeom prst="roundRect">
            <a:avLst>
              <a:gd name="adj" fmla="val 2913"/>
            </a:avLst>
          </a:prstGeom>
          <a:solidFill>
            <a:srgbClr val="6D2E46"/>
          </a:solidFill>
          <a:ln w="12700">
            <a:solidFill>
              <a:srgbClr val="C08A2E"/>
            </a:solidFill>
            <a:prstDash val="solid"/>
          </a:ln>
        </p:spPr>
      </p:sp>
      <p:sp>
        <p:nvSpPr>
          <p:cNvPr id="5" name="Text 3"/>
          <p:cNvSpPr/>
          <p:nvPr/>
        </p:nvSpPr>
        <p:spPr>
          <a:xfrm>
            <a:off x="594360" y="1426464"/>
            <a:ext cx="1380744"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Cluster 2</a:t>
            </a:r>
            <a:endParaRPr lang="en-US" sz="1300" dirty="0"/>
          </a:p>
        </p:txBody>
      </p:sp>
      <p:sp>
        <p:nvSpPr>
          <p:cNvPr id="6" name="Text 4"/>
          <p:cNvSpPr/>
          <p:nvPr/>
        </p:nvSpPr>
        <p:spPr>
          <a:xfrm>
            <a:off x="1773936" y="1426464"/>
            <a:ext cx="457200" cy="256032"/>
          </a:xfrm>
          <a:prstGeom prst="rect">
            <a:avLst/>
          </a:prstGeom>
          <a:noFill/>
          <a:ln/>
        </p:spPr>
        <p:txBody>
          <a:bodyPr wrap="square" lIns="0" tIns="0" rIns="0" bIns="0" rtlCol="0" anchor="ctr"/>
          <a:lstStyle/>
          <a:p>
            <a:pPr algn="r" indent="0" marL="0">
              <a:buNone/>
            </a:pPr>
            <a:r>
              <a:rPr lang="en-US" sz="1100" b="1" dirty="0">
                <a:solidFill>
                  <a:srgbClr val="C08A2E"/>
                </a:solidFill>
                <a:latin typeface="Calibri" pitchFamily="34" charset="0"/>
                <a:ea typeface="Calibri" pitchFamily="34" charset="-122"/>
                <a:cs typeface="Calibri" pitchFamily="34" charset="-120"/>
              </a:rPr>
              <a:t>27%</a:t>
            </a:r>
            <a:endParaRPr lang="en-US" sz="1100" dirty="0"/>
          </a:p>
        </p:txBody>
      </p:sp>
      <p:sp>
        <p:nvSpPr>
          <p:cNvPr id="7" name="Text 5"/>
          <p:cNvSpPr/>
          <p:nvPr/>
        </p:nvSpPr>
        <p:spPr>
          <a:xfrm>
            <a:off x="594360" y="1755648"/>
            <a:ext cx="777240" cy="182880"/>
          </a:xfrm>
          <a:prstGeom prst="rect">
            <a:avLst/>
          </a:prstGeom>
          <a:noFill/>
          <a:ln/>
        </p:spPr>
        <p:txBody>
          <a:bodyPr wrap="square" lIns="0" tIns="0" rIns="0" bIns="0" rtlCol="0" anchor="ctr"/>
          <a:lstStyle/>
          <a:p>
            <a:pPr indent="0" marL="0">
              <a:buNone/>
            </a:pPr>
            <a:r>
              <a:rPr lang="en-US" sz="800" dirty="0">
                <a:solidFill>
                  <a:srgbClr val="A26769"/>
                </a:solidFill>
                <a:latin typeface="Calibri" pitchFamily="34" charset="0"/>
                <a:ea typeface="Calibri" pitchFamily="34" charset="-122"/>
                <a:cs typeface="Calibri" pitchFamily="34" charset="-120"/>
              </a:rPr>
              <a:t>income</a:t>
            </a:r>
            <a:endParaRPr lang="en-US" sz="800" dirty="0"/>
          </a:p>
        </p:txBody>
      </p:sp>
      <p:sp>
        <p:nvSpPr>
          <p:cNvPr id="8" name="Text 6"/>
          <p:cNvSpPr/>
          <p:nvPr/>
        </p:nvSpPr>
        <p:spPr>
          <a:xfrm>
            <a:off x="594360" y="1911096"/>
            <a:ext cx="822960" cy="25603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75 537</a:t>
            </a:r>
            <a:endParaRPr lang="en-US" sz="1400" dirty="0"/>
          </a:p>
        </p:txBody>
      </p:sp>
      <p:sp>
        <p:nvSpPr>
          <p:cNvPr id="9" name="Text 7"/>
          <p:cNvSpPr/>
          <p:nvPr/>
        </p:nvSpPr>
        <p:spPr>
          <a:xfrm>
            <a:off x="1481328" y="1755648"/>
            <a:ext cx="731520" cy="182880"/>
          </a:xfrm>
          <a:prstGeom prst="rect">
            <a:avLst/>
          </a:prstGeom>
          <a:noFill/>
          <a:ln/>
        </p:spPr>
        <p:txBody>
          <a:bodyPr wrap="square" lIns="0" tIns="0" rIns="0" bIns="0" rtlCol="0" anchor="ctr"/>
          <a:lstStyle/>
          <a:p>
            <a:pPr indent="0" marL="0">
              <a:buNone/>
            </a:pPr>
            <a:r>
              <a:rPr lang="en-US" sz="800" dirty="0">
                <a:solidFill>
                  <a:srgbClr val="A26769"/>
                </a:solidFill>
                <a:latin typeface="Calibri" pitchFamily="34" charset="0"/>
                <a:ea typeface="Calibri" pitchFamily="34" charset="-122"/>
                <a:cs typeface="Calibri" pitchFamily="34" charset="-120"/>
              </a:rPr>
              <a:t>spends</a:t>
            </a:r>
            <a:endParaRPr lang="en-US" sz="800" dirty="0"/>
          </a:p>
        </p:txBody>
      </p:sp>
      <p:sp>
        <p:nvSpPr>
          <p:cNvPr id="10" name="Text 8"/>
          <p:cNvSpPr/>
          <p:nvPr/>
        </p:nvSpPr>
        <p:spPr>
          <a:xfrm>
            <a:off x="1481328" y="1911096"/>
            <a:ext cx="731520" cy="256032"/>
          </a:xfrm>
          <a:prstGeom prst="rect">
            <a:avLst/>
          </a:prstGeom>
          <a:noFill/>
          <a:ln/>
        </p:spPr>
        <p:txBody>
          <a:bodyPr wrap="square" lIns="0" tIns="0" rIns="0" bIns="0" rtlCol="0" anchor="ctr"/>
          <a:lstStyle/>
          <a:p>
            <a:pPr indent="0" marL="0">
              <a:buNone/>
            </a:pPr>
            <a:r>
              <a:rPr lang="en-US" sz="1400" b="1" dirty="0">
                <a:solidFill>
                  <a:srgbClr val="C08A2E"/>
                </a:solidFill>
                <a:latin typeface="Cambria" pitchFamily="34" charset="0"/>
                <a:ea typeface="Cambria" pitchFamily="34" charset="-122"/>
                <a:cs typeface="Cambria" pitchFamily="34" charset="-120"/>
              </a:rPr>
              <a:t>1 301</a:t>
            </a:r>
            <a:endParaRPr lang="en-US" sz="1400" dirty="0"/>
          </a:p>
        </p:txBody>
      </p:sp>
      <p:sp>
        <p:nvSpPr>
          <p:cNvPr id="11" name="Text 9"/>
          <p:cNvSpPr/>
          <p:nvPr/>
        </p:nvSpPr>
        <p:spPr>
          <a:xfrm>
            <a:off x="594360" y="2267712"/>
            <a:ext cx="1609344" cy="777240"/>
          </a:xfrm>
          <a:prstGeom prst="rect">
            <a:avLst/>
          </a:prstGeom>
          <a:noFill/>
          <a:ln/>
        </p:spPr>
        <p:txBody>
          <a:bodyPr wrap="square" lIns="0" tIns="0" rIns="0" bIns="0" rtlCol="0" anchor="t"/>
          <a:lstStyle/>
          <a:p>
            <a:pPr indent="0" marL="0">
              <a:lnSpc>
                <a:spcPts val="1200"/>
              </a:lnSpc>
              <a:buNone/>
            </a:pPr>
            <a:r>
              <a:rPr lang="en-US" sz="950" dirty="0">
                <a:solidFill>
                  <a:srgbClr val="ECE2D0"/>
                </a:solidFill>
                <a:latin typeface="Calibri" pitchFamily="34" charset="0"/>
                <a:ea typeface="Calibri" pitchFamily="34" charset="-122"/>
                <a:cs typeface="Calibri" pitchFamily="34" charset="-120"/>
              </a:rPr>
              <a:t>Almost no children. Ignores discounts, rarely visits the site.</a:t>
            </a:r>
            <a:endParaRPr lang="en-US" sz="950" dirty="0"/>
          </a:p>
        </p:txBody>
      </p:sp>
      <p:sp>
        <p:nvSpPr>
          <p:cNvPr id="12" name="Text 10"/>
          <p:cNvSpPr/>
          <p:nvPr/>
        </p:nvSpPr>
        <p:spPr>
          <a:xfrm>
            <a:off x="594360" y="3127248"/>
            <a:ext cx="1609344" cy="594360"/>
          </a:xfrm>
          <a:prstGeom prst="rect">
            <a:avLst/>
          </a:prstGeom>
          <a:noFill/>
          <a:ln/>
        </p:spPr>
        <p:txBody>
          <a:bodyPr wrap="square" lIns="0" tIns="0" rIns="0" bIns="0" rtlCol="0" anchor="t"/>
          <a:lstStyle/>
          <a:p>
            <a:pPr indent="0" marL="0">
              <a:lnSpc>
                <a:spcPts val="1200"/>
              </a:lnSpc>
              <a:buNone/>
            </a:pPr>
            <a:r>
              <a:rPr lang="en-US" sz="950" b="1" i="1" dirty="0">
                <a:solidFill>
                  <a:srgbClr val="C08A2E"/>
                </a:solidFill>
                <a:latin typeface="Calibri" pitchFamily="34" charset="0"/>
                <a:ea typeface="Calibri" pitchFamily="34" charset="-122"/>
                <a:cs typeface="Calibri" pitchFamily="34" charset="-120"/>
              </a:rPr>
              <a:t>Premium wine and meat offers.</a:t>
            </a:r>
            <a:endParaRPr lang="en-US" sz="950" dirty="0"/>
          </a:p>
        </p:txBody>
      </p:sp>
      <p:sp>
        <p:nvSpPr>
          <p:cNvPr id="13" name="Shape 11"/>
          <p:cNvSpPr/>
          <p:nvPr/>
        </p:nvSpPr>
        <p:spPr>
          <a:xfrm>
            <a:off x="2569464" y="1325880"/>
            <a:ext cx="1883664" cy="2514600"/>
          </a:xfrm>
          <a:prstGeom prst="roundRect">
            <a:avLst>
              <a:gd name="adj" fmla="val 2913"/>
            </a:avLst>
          </a:prstGeom>
          <a:solidFill>
            <a:srgbClr val="5A2739"/>
          </a:solidFill>
          <a:ln w="12700">
            <a:solidFill>
              <a:srgbClr val="6D2E46"/>
            </a:solidFill>
            <a:prstDash val="solid"/>
          </a:ln>
        </p:spPr>
      </p:sp>
      <p:sp>
        <p:nvSpPr>
          <p:cNvPr id="14" name="Text 12"/>
          <p:cNvSpPr/>
          <p:nvPr/>
        </p:nvSpPr>
        <p:spPr>
          <a:xfrm>
            <a:off x="2706624" y="1426464"/>
            <a:ext cx="1380744"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Cluster 0</a:t>
            </a:r>
            <a:endParaRPr lang="en-US" sz="1300" dirty="0"/>
          </a:p>
        </p:txBody>
      </p:sp>
      <p:sp>
        <p:nvSpPr>
          <p:cNvPr id="15" name="Text 13"/>
          <p:cNvSpPr/>
          <p:nvPr/>
        </p:nvSpPr>
        <p:spPr>
          <a:xfrm>
            <a:off x="3886200" y="1426464"/>
            <a:ext cx="457200" cy="256032"/>
          </a:xfrm>
          <a:prstGeom prst="rect">
            <a:avLst/>
          </a:prstGeom>
          <a:noFill/>
          <a:ln/>
        </p:spPr>
        <p:txBody>
          <a:bodyPr wrap="square" lIns="0" tIns="0" rIns="0" bIns="0" rtlCol="0" anchor="ctr"/>
          <a:lstStyle/>
          <a:p>
            <a:pPr algn="r" indent="0" marL="0">
              <a:buNone/>
            </a:pPr>
            <a:r>
              <a:rPr lang="en-US" sz="1100" b="1" dirty="0">
                <a:solidFill>
                  <a:srgbClr val="A26769"/>
                </a:solidFill>
                <a:latin typeface="Calibri" pitchFamily="34" charset="0"/>
                <a:ea typeface="Calibri" pitchFamily="34" charset="-122"/>
                <a:cs typeface="Calibri" pitchFamily="34" charset="-120"/>
              </a:rPr>
              <a:t>23%</a:t>
            </a:r>
            <a:endParaRPr lang="en-US" sz="1100" dirty="0"/>
          </a:p>
        </p:txBody>
      </p:sp>
      <p:sp>
        <p:nvSpPr>
          <p:cNvPr id="16" name="Text 14"/>
          <p:cNvSpPr/>
          <p:nvPr/>
        </p:nvSpPr>
        <p:spPr>
          <a:xfrm>
            <a:off x="2706624" y="1755648"/>
            <a:ext cx="777240" cy="182880"/>
          </a:xfrm>
          <a:prstGeom prst="rect">
            <a:avLst/>
          </a:prstGeom>
          <a:noFill/>
          <a:ln/>
        </p:spPr>
        <p:txBody>
          <a:bodyPr wrap="square" lIns="0" tIns="0" rIns="0" bIns="0" rtlCol="0" anchor="ctr"/>
          <a:lstStyle/>
          <a:p>
            <a:pPr indent="0" marL="0">
              <a:buNone/>
            </a:pPr>
            <a:r>
              <a:rPr lang="en-US" sz="800" dirty="0">
                <a:solidFill>
                  <a:srgbClr val="A26769"/>
                </a:solidFill>
                <a:latin typeface="Calibri" pitchFamily="34" charset="0"/>
                <a:ea typeface="Calibri" pitchFamily="34" charset="-122"/>
                <a:cs typeface="Calibri" pitchFamily="34" charset="-120"/>
              </a:rPr>
              <a:t>income</a:t>
            </a:r>
            <a:endParaRPr lang="en-US" sz="800" dirty="0"/>
          </a:p>
        </p:txBody>
      </p:sp>
      <p:sp>
        <p:nvSpPr>
          <p:cNvPr id="17" name="Text 15"/>
          <p:cNvSpPr/>
          <p:nvPr/>
        </p:nvSpPr>
        <p:spPr>
          <a:xfrm>
            <a:off x="2706624" y="1911096"/>
            <a:ext cx="822960" cy="25603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58 502</a:t>
            </a:r>
            <a:endParaRPr lang="en-US" sz="1400" dirty="0"/>
          </a:p>
        </p:txBody>
      </p:sp>
      <p:sp>
        <p:nvSpPr>
          <p:cNvPr id="18" name="Text 16"/>
          <p:cNvSpPr/>
          <p:nvPr/>
        </p:nvSpPr>
        <p:spPr>
          <a:xfrm>
            <a:off x="3593592" y="1755648"/>
            <a:ext cx="731520" cy="182880"/>
          </a:xfrm>
          <a:prstGeom prst="rect">
            <a:avLst/>
          </a:prstGeom>
          <a:noFill/>
          <a:ln/>
        </p:spPr>
        <p:txBody>
          <a:bodyPr wrap="square" lIns="0" tIns="0" rIns="0" bIns="0" rtlCol="0" anchor="ctr"/>
          <a:lstStyle/>
          <a:p>
            <a:pPr indent="0" marL="0">
              <a:buNone/>
            </a:pPr>
            <a:r>
              <a:rPr lang="en-US" sz="800" dirty="0">
                <a:solidFill>
                  <a:srgbClr val="A26769"/>
                </a:solidFill>
                <a:latin typeface="Calibri" pitchFamily="34" charset="0"/>
                <a:ea typeface="Calibri" pitchFamily="34" charset="-122"/>
                <a:cs typeface="Calibri" pitchFamily="34" charset="-120"/>
              </a:rPr>
              <a:t>spends</a:t>
            </a:r>
            <a:endParaRPr lang="en-US" sz="800" dirty="0"/>
          </a:p>
        </p:txBody>
      </p:sp>
      <p:sp>
        <p:nvSpPr>
          <p:cNvPr id="19" name="Text 17"/>
          <p:cNvSpPr/>
          <p:nvPr/>
        </p:nvSpPr>
        <p:spPr>
          <a:xfrm>
            <a:off x="3593592" y="1911096"/>
            <a:ext cx="731520" cy="256032"/>
          </a:xfrm>
          <a:prstGeom prst="rect">
            <a:avLst/>
          </a:prstGeom>
          <a:noFill/>
          <a:ln/>
        </p:spPr>
        <p:txBody>
          <a:bodyPr wrap="square" lIns="0" tIns="0" rIns="0" bIns="0" rtlCol="0" anchor="ctr"/>
          <a:lstStyle/>
          <a:p>
            <a:pPr indent="0" marL="0">
              <a:buNone/>
            </a:pPr>
            <a:r>
              <a:rPr lang="en-US" sz="1400" b="1" dirty="0">
                <a:solidFill>
                  <a:srgbClr val="A26769"/>
                </a:solidFill>
                <a:latin typeface="Cambria" pitchFamily="34" charset="0"/>
                <a:ea typeface="Cambria" pitchFamily="34" charset="-122"/>
                <a:cs typeface="Cambria" pitchFamily="34" charset="-120"/>
              </a:rPr>
              <a:t>813</a:t>
            </a:r>
            <a:endParaRPr lang="en-US" sz="1400" dirty="0"/>
          </a:p>
        </p:txBody>
      </p:sp>
      <p:sp>
        <p:nvSpPr>
          <p:cNvPr id="20" name="Text 18"/>
          <p:cNvSpPr/>
          <p:nvPr/>
        </p:nvSpPr>
        <p:spPr>
          <a:xfrm>
            <a:off x="2706624" y="2267712"/>
            <a:ext cx="1609344" cy="777240"/>
          </a:xfrm>
          <a:prstGeom prst="rect">
            <a:avLst/>
          </a:prstGeom>
          <a:noFill/>
          <a:ln/>
        </p:spPr>
        <p:txBody>
          <a:bodyPr wrap="square" lIns="0" tIns="0" rIns="0" bIns="0" rtlCol="0" anchor="t"/>
          <a:lstStyle/>
          <a:p>
            <a:pPr indent="0" marL="0">
              <a:lnSpc>
                <a:spcPts val="1200"/>
              </a:lnSpc>
              <a:buNone/>
            </a:pPr>
            <a:r>
              <a:rPr lang="en-US" sz="950" dirty="0">
                <a:solidFill>
                  <a:srgbClr val="ECE2D0"/>
                </a:solidFill>
                <a:latin typeface="Calibri" pitchFamily="34" charset="0"/>
                <a:ea typeface="Calibri" pitchFamily="34" charset="-122"/>
                <a:cs typeface="Calibri" pitchFamily="34" charset="-120"/>
              </a:rPr>
              <a:t>Families. Heaviest user of discounted deals of all four.</a:t>
            </a:r>
            <a:endParaRPr lang="en-US" sz="950" dirty="0"/>
          </a:p>
        </p:txBody>
      </p:sp>
      <p:sp>
        <p:nvSpPr>
          <p:cNvPr id="21" name="Text 19"/>
          <p:cNvSpPr/>
          <p:nvPr/>
        </p:nvSpPr>
        <p:spPr>
          <a:xfrm>
            <a:off x="2706624" y="3127248"/>
            <a:ext cx="1609344" cy="594360"/>
          </a:xfrm>
          <a:prstGeom prst="rect">
            <a:avLst/>
          </a:prstGeom>
          <a:noFill/>
          <a:ln/>
        </p:spPr>
        <p:txBody>
          <a:bodyPr wrap="square" lIns="0" tIns="0" rIns="0" bIns="0" rtlCol="0" anchor="t"/>
          <a:lstStyle/>
          <a:p>
            <a:pPr indent="0" marL="0">
              <a:lnSpc>
                <a:spcPts val="1200"/>
              </a:lnSpc>
              <a:buNone/>
            </a:pPr>
            <a:r>
              <a:rPr lang="en-US" sz="950" b="1" i="1" dirty="0">
                <a:solidFill>
                  <a:srgbClr val="A26769"/>
                </a:solidFill>
                <a:latin typeface="Calibri" pitchFamily="34" charset="0"/>
                <a:ea typeface="Calibri" pitchFamily="34" charset="-122"/>
                <a:cs typeface="Calibri" pitchFamily="34" charset="-120"/>
              </a:rPr>
              <a:t>Promotions and bundles.</a:t>
            </a:r>
            <a:endParaRPr lang="en-US" sz="950" dirty="0"/>
          </a:p>
        </p:txBody>
      </p:sp>
      <p:sp>
        <p:nvSpPr>
          <p:cNvPr id="22" name="Shape 20"/>
          <p:cNvSpPr/>
          <p:nvPr/>
        </p:nvSpPr>
        <p:spPr>
          <a:xfrm>
            <a:off x="4681728" y="1325880"/>
            <a:ext cx="1883664" cy="2514600"/>
          </a:xfrm>
          <a:prstGeom prst="roundRect">
            <a:avLst>
              <a:gd name="adj" fmla="val 2913"/>
            </a:avLst>
          </a:prstGeom>
          <a:solidFill>
            <a:srgbClr val="5A2739"/>
          </a:solidFill>
          <a:ln w="12700">
            <a:solidFill>
              <a:srgbClr val="6D2E46"/>
            </a:solidFill>
            <a:prstDash val="solid"/>
          </a:ln>
        </p:spPr>
      </p:sp>
      <p:sp>
        <p:nvSpPr>
          <p:cNvPr id="23" name="Text 21"/>
          <p:cNvSpPr/>
          <p:nvPr/>
        </p:nvSpPr>
        <p:spPr>
          <a:xfrm>
            <a:off x="4818888" y="1426464"/>
            <a:ext cx="1380744"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Cluster 1</a:t>
            </a:r>
            <a:endParaRPr lang="en-US" sz="1300" dirty="0"/>
          </a:p>
        </p:txBody>
      </p:sp>
      <p:sp>
        <p:nvSpPr>
          <p:cNvPr id="24" name="Text 22"/>
          <p:cNvSpPr/>
          <p:nvPr/>
        </p:nvSpPr>
        <p:spPr>
          <a:xfrm>
            <a:off x="5998464" y="1426464"/>
            <a:ext cx="457200" cy="256032"/>
          </a:xfrm>
          <a:prstGeom prst="rect">
            <a:avLst/>
          </a:prstGeom>
          <a:noFill/>
          <a:ln/>
        </p:spPr>
        <p:txBody>
          <a:bodyPr wrap="square" lIns="0" tIns="0" rIns="0" bIns="0" rtlCol="0" anchor="ctr"/>
          <a:lstStyle/>
          <a:p>
            <a:pPr algn="r" indent="0" marL="0">
              <a:buNone/>
            </a:pPr>
            <a:r>
              <a:rPr lang="en-US" sz="1100" b="1" dirty="0">
                <a:solidFill>
                  <a:srgbClr val="A26769"/>
                </a:solidFill>
                <a:latin typeface="Calibri" pitchFamily="34" charset="0"/>
                <a:ea typeface="Calibri" pitchFamily="34" charset="-122"/>
                <a:cs typeface="Calibri" pitchFamily="34" charset="-120"/>
              </a:rPr>
              <a:t>28%</a:t>
            </a:r>
            <a:endParaRPr lang="en-US" sz="1100" dirty="0"/>
          </a:p>
        </p:txBody>
      </p:sp>
      <p:sp>
        <p:nvSpPr>
          <p:cNvPr id="25" name="Text 23"/>
          <p:cNvSpPr/>
          <p:nvPr/>
        </p:nvSpPr>
        <p:spPr>
          <a:xfrm>
            <a:off x="4818888" y="1755648"/>
            <a:ext cx="777240" cy="182880"/>
          </a:xfrm>
          <a:prstGeom prst="rect">
            <a:avLst/>
          </a:prstGeom>
          <a:noFill/>
          <a:ln/>
        </p:spPr>
        <p:txBody>
          <a:bodyPr wrap="square" lIns="0" tIns="0" rIns="0" bIns="0" rtlCol="0" anchor="ctr"/>
          <a:lstStyle/>
          <a:p>
            <a:pPr indent="0" marL="0">
              <a:buNone/>
            </a:pPr>
            <a:r>
              <a:rPr lang="en-US" sz="800" dirty="0">
                <a:solidFill>
                  <a:srgbClr val="A26769"/>
                </a:solidFill>
                <a:latin typeface="Calibri" pitchFamily="34" charset="0"/>
                <a:ea typeface="Calibri" pitchFamily="34" charset="-122"/>
                <a:cs typeface="Calibri" pitchFamily="34" charset="-120"/>
              </a:rPr>
              <a:t>income</a:t>
            </a:r>
            <a:endParaRPr lang="en-US" sz="800" dirty="0"/>
          </a:p>
        </p:txBody>
      </p:sp>
      <p:sp>
        <p:nvSpPr>
          <p:cNvPr id="26" name="Text 24"/>
          <p:cNvSpPr/>
          <p:nvPr/>
        </p:nvSpPr>
        <p:spPr>
          <a:xfrm>
            <a:off x="4818888" y="1911096"/>
            <a:ext cx="822960" cy="25603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39 541</a:t>
            </a:r>
            <a:endParaRPr lang="en-US" sz="1400" dirty="0"/>
          </a:p>
        </p:txBody>
      </p:sp>
      <p:sp>
        <p:nvSpPr>
          <p:cNvPr id="27" name="Text 25"/>
          <p:cNvSpPr/>
          <p:nvPr/>
        </p:nvSpPr>
        <p:spPr>
          <a:xfrm>
            <a:off x="5705856" y="1755648"/>
            <a:ext cx="731520" cy="182880"/>
          </a:xfrm>
          <a:prstGeom prst="rect">
            <a:avLst/>
          </a:prstGeom>
          <a:noFill/>
          <a:ln/>
        </p:spPr>
        <p:txBody>
          <a:bodyPr wrap="square" lIns="0" tIns="0" rIns="0" bIns="0" rtlCol="0" anchor="ctr"/>
          <a:lstStyle/>
          <a:p>
            <a:pPr indent="0" marL="0">
              <a:buNone/>
            </a:pPr>
            <a:r>
              <a:rPr lang="en-US" sz="800" dirty="0">
                <a:solidFill>
                  <a:srgbClr val="A26769"/>
                </a:solidFill>
                <a:latin typeface="Calibri" pitchFamily="34" charset="0"/>
                <a:ea typeface="Calibri" pitchFamily="34" charset="-122"/>
                <a:cs typeface="Calibri" pitchFamily="34" charset="-120"/>
              </a:rPr>
              <a:t>spends</a:t>
            </a:r>
            <a:endParaRPr lang="en-US" sz="800" dirty="0"/>
          </a:p>
        </p:txBody>
      </p:sp>
      <p:sp>
        <p:nvSpPr>
          <p:cNvPr id="28" name="Text 26"/>
          <p:cNvSpPr/>
          <p:nvPr/>
        </p:nvSpPr>
        <p:spPr>
          <a:xfrm>
            <a:off x="5705856" y="1911096"/>
            <a:ext cx="731520" cy="256032"/>
          </a:xfrm>
          <a:prstGeom prst="rect">
            <a:avLst/>
          </a:prstGeom>
          <a:noFill/>
          <a:ln/>
        </p:spPr>
        <p:txBody>
          <a:bodyPr wrap="square" lIns="0" tIns="0" rIns="0" bIns="0" rtlCol="0" anchor="ctr"/>
          <a:lstStyle/>
          <a:p>
            <a:pPr indent="0" marL="0">
              <a:buNone/>
            </a:pPr>
            <a:r>
              <a:rPr lang="en-US" sz="1400" b="1" dirty="0">
                <a:solidFill>
                  <a:srgbClr val="A26769"/>
                </a:solidFill>
                <a:latin typeface="Cambria" pitchFamily="34" charset="0"/>
                <a:ea typeface="Cambria" pitchFamily="34" charset="-122"/>
                <a:cs typeface="Cambria" pitchFamily="34" charset="-120"/>
              </a:rPr>
              <a:t>124</a:t>
            </a:r>
            <a:endParaRPr lang="en-US" sz="1400" dirty="0"/>
          </a:p>
        </p:txBody>
      </p:sp>
      <p:sp>
        <p:nvSpPr>
          <p:cNvPr id="29" name="Text 27"/>
          <p:cNvSpPr/>
          <p:nvPr/>
        </p:nvSpPr>
        <p:spPr>
          <a:xfrm>
            <a:off x="4818888" y="2267712"/>
            <a:ext cx="1609344" cy="777240"/>
          </a:xfrm>
          <a:prstGeom prst="rect">
            <a:avLst/>
          </a:prstGeom>
          <a:noFill/>
          <a:ln/>
        </p:spPr>
        <p:txBody>
          <a:bodyPr wrap="square" lIns="0" tIns="0" rIns="0" bIns="0" rtlCol="0" anchor="t"/>
          <a:lstStyle/>
          <a:p>
            <a:pPr indent="0" marL="0">
              <a:lnSpc>
                <a:spcPts val="1200"/>
              </a:lnSpc>
              <a:buNone/>
            </a:pPr>
            <a:r>
              <a:rPr lang="en-US" sz="950" dirty="0">
                <a:solidFill>
                  <a:srgbClr val="ECE2D0"/>
                </a:solidFill>
                <a:latin typeface="Calibri" pitchFamily="34" charset="0"/>
                <a:ea typeface="Calibri" pitchFamily="34" charset="-122"/>
                <a:cs typeface="Calibri" pitchFamily="34" charset="-120"/>
              </a:rPr>
              <a:t>The most children, the lowest spending of all.</a:t>
            </a:r>
            <a:endParaRPr lang="en-US" sz="950" dirty="0"/>
          </a:p>
        </p:txBody>
      </p:sp>
      <p:sp>
        <p:nvSpPr>
          <p:cNvPr id="30" name="Text 28"/>
          <p:cNvSpPr/>
          <p:nvPr/>
        </p:nvSpPr>
        <p:spPr>
          <a:xfrm>
            <a:off x="4818888" y="3127248"/>
            <a:ext cx="1609344" cy="594360"/>
          </a:xfrm>
          <a:prstGeom prst="rect">
            <a:avLst/>
          </a:prstGeom>
          <a:noFill/>
          <a:ln/>
        </p:spPr>
        <p:txBody>
          <a:bodyPr wrap="square" lIns="0" tIns="0" rIns="0" bIns="0" rtlCol="0" anchor="t"/>
          <a:lstStyle/>
          <a:p>
            <a:pPr indent="0" marL="0">
              <a:lnSpc>
                <a:spcPts val="1200"/>
              </a:lnSpc>
              <a:buNone/>
            </a:pPr>
            <a:r>
              <a:rPr lang="en-US" sz="950" b="1" i="1" dirty="0">
                <a:solidFill>
                  <a:srgbClr val="A26769"/>
                </a:solidFill>
                <a:latin typeface="Calibri" pitchFamily="34" charset="0"/>
                <a:ea typeface="Calibri" pitchFamily="34" charset="-122"/>
                <a:cs typeface="Calibri" pitchFamily="34" charset="-120"/>
              </a:rPr>
              <a:t>Family value products.</a:t>
            </a:r>
            <a:endParaRPr lang="en-US" sz="950" dirty="0"/>
          </a:p>
        </p:txBody>
      </p:sp>
      <p:sp>
        <p:nvSpPr>
          <p:cNvPr id="31" name="Shape 29"/>
          <p:cNvSpPr/>
          <p:nvPr/>
        </p:nvSpPr>
        <p:spPr>
          <a:xfrm>
            <a:off x="6793992" y="1325880"/>
            <a:ext cx="1883664" cy="2514600"/>
          </a:xfrm>
          <a:prstGeom prst="roundRect">
            <a:avLst>
              <a:gd name="adj" fmla="val 2913"/>
            </a:avLst>
          </a:prstGeom>
          <a:solidFill>
            <a:srgbClr val="5A2739"/>
          </a:solidFill>
          <a:ln w="12700">
            <a:solidFill>
              <a:srgbClr val="6D2E46"/>
            </a:solidFill>
            <a:prstDash val="solid"/>
          </a:ln>
        </p:spPr>
      </p:sp>
      <p:sp>
        <p:nvSpPr>
          <p:cNvPr id="32" name="Text 30"/>
          <p:cNvSpPr/>
          <p:nvPr/>
        </p:nvSpPr>
        <p:spPr>
          <a:xfrm>
            <a:off x="6931152" y="1426464"/>
            <a:ext cx="1380744"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Cluster 3</a:t>
            </a:r>
            <a:endParaRPr lang="en-US" sz="1300" dirty="0"/>
          </a:p>
        </p:txBody>
      </p:sp>
      <p:sp>
        <p:nvSpPr>
          <p:cNvPr id="33" name="Text 31"/>
          <p:cNvSpPr/>
          <p:nvPr/>
        </p:nvSpPr>
        <p:spPr>
          <a:xfrm>
            <a:off x="8110728" y="1426464"/>
            <a:ext cx="457200" cy="256032"/>
          </a:xfrm>
          <a:prstGeom prst="rect">
            <a:avLst/>
          </a:prstGeom>
          <a:noFill/>
          <a:ln/>
        </p:spPr>
        <p:txBody>
          <a:bodyPr wrap="square" lIns="0" tIns="0" rIns="0" bIns="0" rtlCol="0" anchor="ctr"/>
          <a:lstStyle/>
          <a:p>
            <a:pPr algn="r" indent="0" marL="0">
              <a:buNone/>
            </a:pPr>
            <a:r>
              <a:rPr lang="en-US" sz="1100" b="1" dirty="0">
                <a:solidFill>
                  <a:srgbClr val="A26769"/>
                </a:solidFill>
                <a:latin typeface="Calibri" pitchFamily="34" charset="0"/>
                <a:ea typeface="Calibri" pitchFamily="34" charset="-122"/>
                <a:cs typeface="Calibri" pitchFamily="34" charset="-120"/>
              </a:rPr>
              <a:t>22%</a:t>
            </a:r>
            <a:endParaRPr lang="en-US" sz="1100" dirty="0"/>
          </a:p>
        </p:txBody>
      </p:sp>
      <p:sp>
        <p:nvSpPr>
          <p:cNvPr id="34" name="Text 32"/>
          <p:cNvSpPr/>
          <p:nvPr/>
        </p:nvSpPr>
        <p:spPr>
          <a:xfrm>
            <a:off x="6931152" y="1755648"/>
            <a:ext cx="777240" cy="182880"/>
          </a:xfrm>
          <a:prstGeom prst="rect">
            <a:avLst/>
          </a:prstGeom>
          <a:noFill/>
          <a:ln/>
        </p:spPr>
        <p:txBody>
          <a:bodyPr wrap="square" lIns="0" tIns="0" rIns="0" bIns="0" rtlCol="0" anchor="ctr"/>
          <a:lstStyle/>
          <a:p>
            <a:pPr indent="0" marL="0">
              <a:buNone/>
            </a:pPr>
            <a:r>
              <a:rPr lang="en-US" sz="800" dirty="0">
                <a:solidFill>
                  <a:srgbClr val="A26769"/>
                </a:solidFill>
                <a:latin typeface="Calibri" pitchFamily="34" charset="0"/>
                <a:ea typeface="Calibri" pitchFamily="34" charset="-122"/>
                <a:cs typeface="Calibri" pitchFamily="34" charset="-120"/>
              </a:rPr>
              <a:t>income</a:t>
            </a:r>
            <a:endParaRPr lang="en-US" sz="800" dirty="0"/>
          </a:p>
        </p:txBody>
      </p:sp>
      <p:sp>
        <p:nvSpPr>
          <p:cNvPr id="35" name="Text 33"/>
          <p:cNvSpPr/>
          <p:nvPr/>
        </p:nvSpPr>
        <p:spPr>
          <a:xfrm>
            <a:off x="6931152" y="1911096"/>
            <a:ext cx="822960" cy="25603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31 627</a:t>
            </a:r>
            <a:endParaRPr lang="en-US" sz="1400" dirty="0"/>
          </a:p>
        </p:txBody>
      </p:sp>
      <p:sp>
        <p:nvSpPr>
          <p:cNvPr id="36" name="Text 34"/>
          <p:cNvSpPr/>
          <p:nvPr/>
        </p:nvSpPr>
        <p:spPr>
          <a:xfrm>
            <a:off x="7818120" y="1755648"/>
            <a:ext cx="731520" cy="182880"/>
          </a:xfrm>
          <a:prstGeom prst="rect">
            <a:avLst/>
          </a:prstGeom>
          <a:noFill/>
          <a:ln/>
        </p:spPr>
        <p:txBody>
          <a:bodyPr wrap="square" lIns="0" tIns="0" rIns="0" bIns="0" rtlCol="0" anchor="ctr"/>
          <a:lstStyle/>
          <a:p>
            <a:pPr indent="0" marL="0">
              <a:buNone/>
            </a:pPr>
            <a:r>
              <a:rPr lang="en-US" sz="800" dirty="0">
                <a:solidFill>
                  <a:srgbClr val="A26769"/>
                </a:solidFill>
                <a:latin typeface="Calibri" pitchFamily="34" charset="0"/>
                <a:ea typeface="Calibri" pitchFamily="34" charset="-122"/>
                <a:cs typeface="Calibri" pitchFamily="34" charset="-120"/>
              </a:rPr>
              <a:t>spends</a:t>
            </a:r>
            <a:endParaRPr lang="en-US" sz="800" dirty="0"/>
          </a:p>
        </p:txBody>
      </p:sp>
      <p:sp>
        <p:nvSpPr>
          <p:cNvPr id="37" name="Text 35"/>
          <p:cNvSpPr/>
          <p:nvPr/>
        </p:nvSpPr>
        <p:spPr>
          <a:xfrm>
            <a:off x="7818120" y="1911096"/>
            <a:ext cx="731520" cy="256032"/>
          </a:xfrm>
          <a:prstGeom prst="rect">
            <a:avLst/>
          </a:prstGeom>
          <a:noFill/>
          <a:ln/>
        </p:spPr>
        <p:txBody>
          <a:bodyPr wrap="square" lIns="0" tIns="0" rIns="0" bIns="0" rtlCol="0" anchor="ctr"/>
          <a:lstStyle/>
          <a:p>
            <a:pPr indent="0" marL="0">
              <a:buNone/>
            </a:pPr>
            <a:r>
              <a:rPr lang="en-US" sz="1400" b="1" dirty="0">
                <a:solidFill>
                  <a:srgbClr val="A26769"/>
                </a:solidFill>
                <a:latin typeface="Cambria" pitchFamily="34" charset="0"/>
                <a:ea typeface="Cambria" pitchFamily="34" charset="-122"/>
                <a:cs typeface="Cambria" pitchFamily="34" charset="-120"/>
              </a:rPr>
              <a:t>145</a:t>
            </a:r>
            <a:endParaRPr lang="en-US" sz="1400" dirty="0"/>
          </a:p>
        </p:txBody>
      </p:sp>
      <p:sp>
        <p:nvSpPr>
          <p:cNvPr id="38" name="Text 36"/>
          <p:cNvSpPr/>
          <p:nvPr/>
        </p:nvSpPr>
        <p:spPr>
          <a:xfrm>
            <a:off x="6931152" y="2267712"/>
            <a:ext cx="1609344" cy="777240"/>
          </a:xfrm>
          <a:prstGeom prst="rect">
            <a:avLst/>
          </a:prstGeom>
          <a:noFill/>
          <a:ln/>
        </p:spPr>
        <p:txBody>
          <a:bodyPr wrap="square" lIns="0" tIns="0" rIns="0" bIns="0" rtlCol="0" anchor="t"/>
          <a:lstStyle/>
          <a:p>
            <a:pPr indent="0" marL="0">
              <a:lnSpc>
                <a:spcPts val="1200"/>
              </a:lnSpc>
              <a:buNone/>
            </a:pPr>
            <a:r>
              <a:rPr lang="en-US" sz="950" dirty="0">
                <a:solidFill>
                  <a:srgbClr val="ECE2D0"/>
                </a:solidFill>
                <a:latin typeface="Calibri" pitchFamily="34" charset="0"/>
                <a:ea typeface="Calibri" pitchFamily="34" charset="-122"/>
                <a:cs typeface="Calibri" pitchFamily="34" charset="-120"/>
              </a:rPr>
              <a:t>Youngest at 39. Visits the site most, buys least.</a:t>
            </a:r>
            <a:endParaRPr lang="en-US" sz="950" dirty="0"/>
          </a:p>
        </p:txBody>
      </p:sp>
      <p:sp>
        <p:nvSpPr>
          <p:cNvPr id="39" name="Text 37"/>
          <p:cNvSpPr/>
          <p:nvPr/>
        </p:nvSpPr>
        <p:spPr>
          <a:xfrm>
            <a:off x="6931152" y="3127248"/>
            <a:ext cx="1609344" cy="594360"/>
          </a:xfrm>
          <a:prstGeom prst="rect">
            <a:avLst/>
          </a:prstGeom>
          <a:noFill/>
          <a:ln/>
        </p:spPr>
        <p:txBody>
          <a:bodyPr wrap="square" lIns="0" tIns="0" rIns="0" bIns="0" rtlCol="0" anchor="t"/>
          <a:lstStyle/>
          <a:p>
            <a:pPr indent="0" marL="0">
              <a:lnSpc>
                <a:spcPts val="1200"/>
              </a:lnSpc>
              <a:buNone/>
            </a:pPr>
            <a:r>
              <a:rPr lang="en-US" sz="950" b="1" i="1" dirty="0">
                <a:solidFill>
                  <a:srgbClr val="A26769"/>
                </a:solidFill>
                <a:latin typeface="Calibri" pitchFamily="34" charset="0"/>
                <a:ea typeface="Calibri" pitchFamily="34" charset="-122"/>
                <a:cs typeface="Calibri" pitchFamily="34" charset="-120"/>
              </a:rPr>
              <a:t>Web retargeting, first-purchase offers.</a:t>
            </a:r>
            <a:endParaRPr lang="en-US" sz="950" dirty="0"/>
          </a:p>
        </p:txBody>
      </p:sp>
      <p:sp>
        <p:nvSpPr>
          <p:cNvPr id="40" name="Text 38"/>
          <p:cNvSpPr/>
          <p:nvPr/>
        </p:nvSpPr>
        <p:spPr>
          <a:xfrm>
            <a:off x="457200" y="4023360"/>
            <a:ext cx="8229600" cy="594360"/>
          </a:xfrm>
          <a:prstGeom prst="rect">
            <a:avLst/>
          </a:prstGeom>
          <a:noFill/>
          <a:ln/>
        </p:spPr>
        <p:txBody>
          <a:bodyPr wrap="square" lIns="0" tIns="0" rIns="0" bIns="0" rtlCol="0" anchor="t"/>
          <a:lstStyle/>
          <a:p>
            <a:pPr algn="l" indent="0" marL="0">
              <a:lnSpc>
                <a:spcPts val="1500"/>
              </a:lnSpc>
              <a:buNone/>
            </a:pPr>
            <a:r>
              <a:rPr lang="en-US" sz="1200" dirty="0">
                <a:solidFill>
                  <a:srgbClr val="FFFFFF"/>
                </a:solidFill>
                <a:latin typeface="Calibri" pitchFamily="34" charset="0"/>
                <a:ea typeface="Calibri" pitchFamily="34" charset="-122"/>
                <a:cs typeface="Calibri" pitchFamily="34" charset="-120"/>
              </a:rPr>
              <a:t>Instead of promoting one product to all 2 212 customers, the shop targets the segment whose profile matches the offer. Wine leads in every segment — but Cluster 2 spends ten times what Cluster 1 does.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2026-07-26T18:14:49Z</dcterms:created>
  <dcterms:modified xsi:type="dcterms:W3CDTF">2026-07-26T18:14:49Z</dcterms:modified>
</cp:coreProperties>
</file>